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4c0e6d5-fda3-e2df-2a6d-2e942be2b659}">
          <p14:sldIdLst>
            <p14:sldId id="256"/>
            <p14:sldId id="257"/>
          </p14:sldIdLst>
        </p14:section>
        <p14:section name="Problem and Vision" id="{96bdcc69-3088-d2e6-307b-3b357d6700f4}">
          <p14:sldIdLst>
            <p14:sldId id="258"/>
            <p14:sldId id="259"/>
            <p14:sldId id="260"/>
          </p14:sldIdLst>
        </p14:section>
        <p14:section name="Design" id="{bcedbd78-a796-7308-c15f-dcf482b3b310}">
          <p14:sldIdLst>
            <p14:sldId id="261"/>
            <p14:sldId id="262"/>
          </p14:sldIdLst>
        </p14:section>
        <p14:section name="Core Modules" id="{b5e189ae-f445-906b-4633-5e36d6377cce}">
          <p14:sldIdLst>
            <p14:sldId id="263"/>
            <p14:sldId id="264"/>
            <p14:sldId id="265"/>
            <p14:sldId id="266"/>
          </p14:sldIdLst>
        </p14:section>
        <p14:section name="Evaluation" id="{30f2b37a-2af9-f084-cce3-8969490e900d}">
          <p14:sldIdLst>
            <p14:sldId id="267"/>
            <p14:sldId id="268"/>
            <p14:sldId id="269"/>
          </p14:sldIdLst>
        </p14:section>
        <p14:section name="Closing" id="{13214a25-4956-85bf-63cc-6ed772e4b651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Theft cases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7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1548</c:v>
                </c:pt>
                <c:pt idx="1">
                  <c:v>1937</c:v>
                </c:pt>
                <c:pt idx="2">
                  <c:v>1587</c:v>
                </c:pt>
                <c:pt idx="3">
                  <c:v>1570</c:v>
                </c:pt>
                <c:pt idx="4">
                  <c:v>1442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7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0"/>
        <c:axPos val="l"/>
        <c:majorGridlines>
          <c:spPr>
            <a:ln w="6350" cap="flat">
              <a:solidFill>
                <a:srgbClr val="D5DE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NETRA-GATI is an individual academic project: a city-wide AI engine that reads number plates across many cameras, reconstructs vehicle trajectories and produces traffic analytics.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breath: existing cameras in, vehicle intelligence out. The five-stage strip at the bottom is the backbone of the whole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framing: cameras exist everywhere, but they do not talk to each other. The chart uses the Raipur theft-case figures from the source presentation (2021–2025).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on the left comes straight from the project concept; the four objectives on the right are the measurable goals the rest of the deck delivers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capabilities (top) and three differentiators (bottom). The key idea: no new cameras, intelligence at the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 from camera to dashboard. The right-hand table lists the planned technology for each concern.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five methodology stages. Right: the full processing flowchart, including the watchlist decision (match found: alert; no match: normal logging) and dashboard updates.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ANPR path: pre-process, detect with YOLOv8, crop, OCR the plate. Everything happens at the edge; only metadata travels to the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differentiator: plate text alone is not enough, so Re-ID features and road-network topology link sightings across blind spots. The screenshot shows the dashboard's route reconstruction and an anomaly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Descriptive analytics (heatmaps, live map) on top; predictive analytics (LSTM forecasting from historical, weather and pedestrian inputs)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data platform, three operational lanes. The dashboard modules at the top are the navigation items of the demo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 rests on four points: reuse of existing CCTV, proven models, metadata-only uplink and an open-source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risk on the left is paired with a concrete mitigation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user groups benefit (top). The dark band lists the concrete outcomes the system is designed to deliver.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one-line takeaway, then the four directions for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list, source links, repository QR code and the demonstration video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NETRA-GATI  |  Individual Academic Project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NETRA-GATI  |  Individual Academic Project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tektronixllc.ae/" TargetMode="External"/><Relationship Id="rId2" Type="http://schemas.openxmlformats.org/officeDocument/2006/relationships/hyperlink" Target="https://tektronixllc.ae/anpr-lpr-camera-installation-uae-saudi-arabia-oman-qatar/" TargetMode="External"/><Relationship Id="rId3" Type="http://schemas.openxmlformats.org/officeDocument/2006/relationships/hyperlink" Target="https://share.google/9ZiH2DJry2YQOpvjS" TargetMode="External"/><Relationship Id="rId6" Type="http://schemas.openxmlformats.org/officeDocument/2006/relationships/hyperlink" Target="https://youtu.be/uYhBiXGCNos?si=n0K4-_H6FArmh-du" TargetMode="External"/><Relationship Id="rId4" Type="http://schemas.openxmlformats.org/officeDocument/2006/relationships/image" Target="../media/image-16-1.png"/><Relationship Id="rId5" Type="http://schemas.openxmlformats.org/officeDocument/2006/relationships/image" Target="../media/image-16-2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ation type chip"/>
          <p:cNvSpPr/>
          <p:nvPr/>
        </p:nvSpPr>
        <p:spPr>
          <a:xfrm>
            <a:off x="731520" y="914400"/>
            <a:ext cx="5074920" cy="420624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91440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INDIVIDUAL ACADEMIC PROJECT PRESENTATION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NETRA-GATI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City-Wide AI Engine for Multi-Camera ANPR, Vehicle Trajectory Tracking and Urban Traffic Analytics</a:t>
            </a:r>
            <a:endParaRPr lang="en-US" sz="2400" dirty="0"/>
          </a:p>
        </p:txBody>
      </p:sp>
      <p:sp>
        <p:nvSpPr>
          <p:cNvPr id="6" name="Tech chip YOLOv8"/>
          <p:cNvSpPr/>
          <p:nvPr/>
        </p:nvSpPr>
        <p:spPr>
          <a:xfrm>
            <a:off x="731520" y="4892040"/>
            <a:ext cx="950976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89204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YOLOv8</a:t>
            </a:r>
            <a:endParaRPr lang="en-US" sz="1400" dirty="0"/>
          </a:p>
        </p:txBody>
      </p:sp>
      <p:sp>
        <p:nvSpPr>
          <p:cNvPr id="8" name="Tech chip OpenCV"/>
          <p:cNvSpPr/>
          <p:nvPr/>
        </p:nvSpPr>
        <p:spPr>
          <a:xfrm>
            <a:off x="1819656" y="4892040"/>
            <a:ext cx="950976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19656" y="4892040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OpenCV</a:t>
            </a:r>
            <a:endParaRPr lang="en-US" sz="1400" dirty="0"/>
          </a:p>
        </p:txBody>
      </p:sp>
      <p:sp>
        <p:nvSpPr>
          <p:cNvPr id="10" name="Tech chip ANPR / OCR"/>
          <p:cNvSpPr/>
          <p:nvPr/>
        </p:nvSpPr>
        <p:spPr>
          <a:xfrm>
            <a:off x="2907792" y="4892040"/>
            <a:ext cx="137160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48920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ANPR / OCR</a:t>
            </a:r>
            <a:endParaRPr lang="en-US" sz="1400" dirty="0"/>
          </a:p>
        </p:txBody>
      </p:sp>
      <p:sp>
        <p:nvSpPr>
          <p:cNvPr id="12" name="Tech chip Vehicle Re-ID"/>
          <p:cNvSpPr/>
          <p:nvPr/>
        </p:nvSpPr>
        <p:spPr>
          <a:xfrm>
            <a:off x="4416552" y="4892040"/>
            <a:ext cx="1687068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16552" y="4892040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Vehicle Re-ID</a:t>
            </a:r>
            <a:endParaRPr lang="en-US" sz="1400" dirty="0"/>
          </a:p>
        </p:txBody>
      </p:sp>
      <p:sp>
        <p:nvSpPr>
          <p:cNvPr id="14" name="Tech chip Edge AI"/>
          <p:cNvSpPr/>
          <p:nvPr/>
        </p:nvSpPr>
        <p:spPr>
          <a:xfrm>
            <a:off x="6240780" y="4892040"/>
            <a:ext cx="1056132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 w="9525">
            <a:solidFill>
              <a:schemeClr val="bg1">
                <a:alpha val="45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40780" y="4892040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Edge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NETRA-GATI turns a city’s existing CCTV network into a connected vehicle-intelligence platform. It reads number plates, recognises the same vehicle across non-overlapping cameras, reconstructs its complete city-wide path, and converts the data stream into real-time traffic analytics and predictive insights.</a:t>
            </a:r>
            <a:endParaRPr lang="en-US" sz="1800" dirty="0"/>
          </a:p>
        </p:txBody>
      </p:sp>
      <p:sp>
        <p:nvSpPr>
          <p:cNvPr id="4" name="Icon badge FaIdCard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IdCar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3341218"/>
            <a:ext cx="175565" cy="1755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3246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Reads plates with ANPR/OCR</a:t>
            </a:r>
            <a:endParaRPr lang="en-US" sz="1600" dirty="0"/>
          </a:p>
        </p:txBody>
      </p:sp>
      <p:sp>
        <p:nvSpPr>
          <p:cNvPr id="7" name="Icon badge FaRoute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" name="Image 1" descr="Rout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8" y="3798418"/>
            <a:ext cx="175565" cy="17556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51560" y="3703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Tracks vehicles across blind spots</a:t>
            </a:r>
            <a:endParaRPr lang="en-US" sz="1600" dirty="0"/>
          </a:p>
        </p:txBody>
      </p:sp>
      <p:sp>
        <p:nvSpPr>
          <p:cNvPr id="10" name="Icon badge FaChartBar"/>
          <p:cNvSpPr/>
          <p:nvPr/>
        </p:nvSpPr>
        <p:spPr>
          <a:xfrm>
            <a:off x="548640" y="41605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1" name="Image 2" descr="ChartBa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8" y="4255618"/>
            <a:ext cx="175565" cy="17556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51560" y="41605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Predicts and prevents congestion</a:t>
            </a:r>
            <a:endParaRPr lang="en-US" sz="1600" dirty="0"/>
          </a:p>
        </p:txBody>
      </p:sp>
      <p:sp>
        <p:nvSpPr>
          <p:cNvPr id="13" name="Camera visual card"/>
          <p:cNvSpPr/>
          <p:nvPr/>
        </p:nvSpPr>
        <p:spPr>
          <a:xfrm>
            <a:off x="7589520" y="1371600"/>
            <a:ext cx="4050792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pic>
        <p:nvPicPr>
          <p:cNvPr id="14" name="Image 3" descr="Roadside surveillance camera above a city roa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554480"/>
            <a:ext cx="1517904" cy="2743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12680" y="219456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Existing CCTV, upgraded with edge AI</a:t>
            </a:r>
            <a:endParaRPr lang="en-US" sz="1400" dirty="0"/>
          </a:p>
        </p:txBody>
      </p:sp>
      <p:sp>
        <p:nvSpPr>
          <p:cNvPr id="16" name="Icon badge FaVideo"/>
          <p:cNvSpPr/>
          <p:nvPr/>
        </p:nvSpPr>
        <p:spPr>
          <a:xfrm>
            <a:off x="1143000" y="47091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4" descr="Video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195" y="4899355"/>
            <a:ext cx="351130" cy="35113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4864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Multi-Camera Feeds</a:t>
            </a:r>
            <a:endParaRPr lang="en-US" sz="1400" dirty="0"/>
          </a:p>
        </p:txBody>
      </p:sp>
      <p:pic>
        <p:nvPicPr>
          <p:cNvPr id="19" name="Image 5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8029" y="4937760"/>
            <a:ext cx="274320" cy="274320"/>
          </a:xfrm>
          <a:prstGeom prst="rect">
            <a:avLst/>
          </a:prstGeom>
        </p:spPr>
      </p:pic>
      <p:sp>
        <p:nvSpPr>
          <p:cNvPr id="20" name="Icon badge FaMicrochip"/>
          <p:cNvSpPr/>
          <p:nvPr/>
        </p:nvSpPr>
        <p:spPr>
          <a:xfrm>
            <a:off x="3435858" y="470916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1" name="Image 6" descr="Microchip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6053" y="4899355"/>
            <a:ext cx="351130" cy="35113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2841498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 AI Processing</a:t>
            </a:r>
            <a:endParaRPr lang="en-US" sz="1400" dirty="0"/>
          </a:p>
        </p:txBody>
      </p:sp>
      <p:pic>
        <p:nvPicPr>
          <p:cNvPr id="23" name="Image 7" descr="arrow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0887" y="4937760"/>
            <a:ext cx="274320" cy="274320"/>
          </a:xfrm>
          <a:prstGeom prst="rect">
            <a:avLst/>
          </a:prstGeom>
        </p:spPr>
      </p:pic>
      <p:sp>
        <p:nvSpPr>
          <p:cNvPr id="24" name="Icon badge FaIdCard"/>
          <p:cNvSpPr/>
          <p:nvPr/>
        </p:nvSpPr>
        <p:spPr>
          <a:xfrm>
            <a:off x="5728716" y="470916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5" name="Image 8" descr="IdCard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8911" y="4899355"/>
            <a:ext cx="351130" cy="35113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134356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ANPR + Re-Identification</a:t>
            </a:r>
            <a:endParaRPr lang="en-US" sz="1400" dirty="0"/>
          </a:p>
        </p:txBody>
      </p:sp>
      <p:pic>
        <p:nvPicPr>
          <p:cNvPr id="27" name="Image 9" descr="arrow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3745" y="4937760"/>
            <a:ext cx="274320" cy="274320"/>
          </a:xfrm>
          <a:prstGeom prst="rect">
            <a:avLst/>
          </a:prstGeom>
        </p:spPr>
      </p:pic>
      <p:sp>
        <p:nvSpPr>
          <p:cNvPr id="28" name="Icon badge FaRoute"/>
          <p:cNvSpPr/>
          <p:nvPr/>
        </p:nvSpPr>
        <p:spPr>
          <a:xfrm>
            <a:off x="8021574" y="470916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9" name="Image 10" descr="Rout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1769" y="4899355"/>
            <a:ext cx="351130" cy="35113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7427214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Trajectory Tracking</a:t>
            </a:r>
            <a:endParaRPr lang="en-US" sz="1400" dirty="0"/>
          </a:p>
        </p:txBody>
      </p:sp>
      <p:pic>
        <p:nvPicPr>
          <p:cNvPr id="31" name="Image 11" descr="arrow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6603" y="4937760"/>
            <a:ext cx="274320" cy="274320"/>
          </a:xfrm>
          <a:prstGeom prst="rect">
            <a:avLst/>
          </a:prstGeom>
        </p:spPr>
      </p:pic>
      <p:sp>
        <p:nvSpPr>
          <p:cNvPr id="32" name="Icon badge FaChartBar"/>
          <p:cNvSpPr/>
          <p:nvPr/>
        </p:nvSpPr>
        <p:spPr>
          <a:xfrm>
            <a:off x="10314432" y="470916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3" name="Image 12" descr="ChartBar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04627" y="4899355"/>
            <a:ext cx="351130" cy="351130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9720072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Traffic Insights &amp; Predictions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3200" dirty="0"/>
          </a:p>
        </p:txBody>
      </p:sp>
      <p:sp>
        <p:nvSpPr>
          <p:cNvPr id="3" name="Problem card 1"/>
          <p:cNvSpPr/>
          <p:nvPr/>
        </p:nvSpPr>
        <p:spPr>
          <a:xfrm>
            <a:off x="548640" y="1371600"/>
            <a:ext cx="6309360" cy="1033272"/>
          </a:xfrm>
          <a:prstGeom prst="roundRect">
            <a:avLst>
              <a:gd name="adj" fmla="val 10619"/>
            </a:avLst>
          </a:prstGeom>
          <a:solidFill>
            <a:schemeClr val="bg2"/>
          </a:solidFill>
          <a:ln/>
        </p:spPr>
      </p:sp>
      <p:sp>
        <p:nvSpPr>
          <p:cNvPr id="4" name="Icon badge FaEye"/>
          <p:cNvSpPr/>
          <p:nvPr/>
        </p:nvSpPr>
        <p:spPr>
          <a:xfrm>
            <a:off x="749808" y="1572768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5" name="Image 0" descr="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29" y="1739189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9961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Blind spots between cameras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2880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Disconnected feeds lose a vehicle’s complete city-wide path between cameras.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548640" y="2542032"/>
            <a:ext cx="6309360" cy="1033272"/>
          </a:xfrm>
          <a:prstGeom prst="roundRect">
            <a:avLst>
              <a:gd name="adj" fmla="val 10619"/>
            </a:avLst>
          </a:prstGeom>
          <a:solidFill>
            <a:schemeClr val="bg2"/>
          </a:solidFill>
          <a:ln/>
        </p:spPr>
      </p:sp>
      <p:sp>
        <p:nvSpPr>
          <p:cNvPr id="9" name="Icon badge FaUserSecret"/>
          <p:cNvSpPr/>
          <p:nvPr/>
        </p:nvSpPr>
        <p:spPr>
          <a:xfrm>
            <a:off x="749808" y="27432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0" name="Image 1" descr="UserSecr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29" y="29096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67004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Manual watching and tracking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600200" y="2999232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Operators track vehicles by hand; plates are not read and alerts are not raised automatically.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548640" y="3712464"/>
            <a:ext cx="6309360" cy="1033272"/>
          </a:xfrm>
          <a:prstGeom prst="roundRect">
            <a:avLst>
              <a:gd name="adj" fmla="val 10619"/>
            </a:avLst>
          </a:prstGeom>
          <a:solidFill>
            <a:schemeClr val="bg2"/>
          </a:solidFill>
          <a:ln/>
        </p:spPr>
      </p:sp>
      <p:sp>
        <p:nvSpPr>
          <p:cNvPr id="14" name="Icon badge FaExclamationTriangle"/>
          <p:cNvSpPr/>
          <p:nvPr/>
        </p:nvSpPr>
        <p:spPr>
          <a:xfrm>
            <a:off x="749808" y="3913632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2" descr="ExclamationTriang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229" y="408005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8404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Blacklisted vehicles go unflagged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4169664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Stolen or watch-listed vehicles are hard to catch across disparate camera feeds.</a:t>
            </a:r>
            <a:endParaRPr lang="en-US" sz="1400" dirty="0"/>
          </a:p>
        </p:txBody>
      </p:sp>
      <p:sp>
        <p:nvSpPr>
          <p:cNvPr id="18" name="Problem card 4"/>
          <p:cNvSpPr/>
          <p:nvPr/>
        </p:nvSpPr>
        <p:spPr>
          <a:xfrm>
            <a:off x="548640" y="4882896"/>
            <a:ext cx="6309360" cy="1033272"/>
          </a:xfrm>
          <a:prstGeom prst="roundRect">
            <a:avLst>
              <a:gd name="adj" fmla="val 10619"/>
            </a:avLst>
          </a:prstGeom>
          <a:solidFill>
            <a:schemeClr val="bg2"/>
          </a:solidFill>
          <a:ln/>
        </p:spPr>
      </p:sp>
      <p:sp>
        <p:nvSpPr>
          <p:cNvPr id="19" name="Icon badge FaTrafficLight"/>
          <p:cNvSpPr/>
          <p:nvPr/>
        </p:nvSpPr>
        <p:spPr>
          <a:xfrm>
            <a:off x="749808" y="5084064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0" name="Image 3" descr="TrafficLigh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9" y="5250485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501091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Reactive traffic management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600200" y="5340096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Congestion is handled after it forms; planners lack flow data to improve road design.</a:t>
            </a:r>
            <a:endParaRPr lang="en-US" sz="1400" dirty="0"/>
          </a:p>
        </p:txBody>
      </p:sp>
      <p:sp>
        <p:nvSpPr>
          <p:cNvPr id="23" name="Motivation chart card"/>
          <p:cNvSpPr/>
          <p:nvPr/>
        </p:nvSpPr>
        <p:spPr>
          <a:xfrm>
            <a:off x="7132320" y="1371600"/>
            <a:ext cx="4507992" cy="4572000"/>
          </a:xfrm>
          <a:prstGeom prst="roundRect">
            <a:avLst>
              <a:gd name="adj" fmla="val 2434"/>
            </a:avLst>
          </a:prstGeom>
          <a:solidFill>
            <a:schemeClr val="bg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360920" y="15361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Motivation: vehicle theft in Raipur</a:t>
            </a:r>
            <a:endParaRPr lang="en-US" sz="16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7269480" y="1920240"/>
          <a:ext cx="4251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 txBox="1"/>
          <p:nvPr/>
        </p:nvSpPr>
        <p:spPr>
          <a:xfrm>
            <a:off x="7360920" y="50292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Reported theft cases stay above 1,400 every year (2021–2025), which motivates automated cross-camera vehicle tracking.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 &amp; Vision</a:t>
            </a:r>
            <a:endParaRPr lang="en-US" sz="3200" dirty="0"/>
          </a:p>
        </p:txBody>
      </p:sp>
      <p:sp>
        <p:nvSpPr>
          <p:cNvPr id="3" name="Vision card"/>
          <p:cNvSpPr/>
          <p:nvPr/>
        </p:nvSpPr>
        <p:spPr>
          <a:xfrm>
            <a:off x="548640" y="1371600"/>
            <a:ext cx="4480560" cy="466344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</p:sp>
      <p:sp>
        <p:nvSpPr>
          <p:cNvPr id="4" name="Icon badge FaBullseye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5" name="Image 0" descr="Bulls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Vision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Flag blacklisted or stolen vehicles across disparate camera feeds, using cross-camera Re-ID and road-network topology to reconstruct a vehicle’s complete city-wide path in real time.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0233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Use real-time AI to predict and prevent congestion, ensuring faster and smoother daily commutes across the city.</a:t>
            </a:r>
            <a:endParaRPr lang="en-US" sz="1600" dirty="0"/>
          </a:p>
        </p:txBody>
      </p:sp>
      <p:sp>
        <p:nvSpPr>
          <p:cNvPr id="9" name="Objective card 1"/>
          <p:cNvSpPr/>
          <p:nvPr/>
        </p:nvSpPr>
        <p:spPr>
          <a:xfrm>
            <a:off x="5303520" y="1371600"/>
            <a:ext cx="30632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Icon badge FaIdCard"/>
          <p:cNvSpPr/>
          <p:nvPr/>
        </p:nvSpPr>
        <p:spPr>
          <a:xfrm>
            <a:off x="5532120" y="160020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IdCar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654" y="17547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6002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01</a:t>
            </a:r>
            <a:endParaRPr lang="en-US" sz="2800" dirty="0"/>
          </a:p>
        </p:txBody>
      </p:sp>
      <p:sp>
        <p:nvSpPr>
          <p:cNvPr id="13" name="Text 9"/>
          <p:cNvSpPr txBox="1"/>
          <p:nvPr/>
        </p:nvSpPr>
        <p:spPr>
          <a:xfrm>
            <a:off x="5532120" y="2331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Real-time ANPR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532120" y="26700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Detect vehicles and read plates from live city CCTV feeds.</a:t>
            </a:r>
            <a:endParaRPr lang="en-US" sz="1400" dirty="0"/>
          </a:p>
        </p:txBody>
      </p:sp>
      <p:sp>
        <p:nvSpPr>
          <p:cNvPr id="15" name="Objective card 2"/>
          <p:cNvSpPr/>
          <p:nvPr/>
        </p:nvSpPr>
        <p:spPr>
          <a:xfrm>
            <a:off x="8577072" y="1371600"/>
            <a:ext cx="30632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6" name="Icon badge FaRoute"/>
          <p:cNvSpPr/>
          <p:nvPr/>
        </p:nvSpPr>
        <p:spPr>
          <a:xfrm>
            <a:off x="8805672" y="16002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7" name="Image 2" descr="Rout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206" y="17547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588752" y="160020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02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8805672" y="2331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Trajectory reconstruction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805672" y="267004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Stitch non-overlapping feeds using Re-ID and road-network topology.</a:t>
            </a:r>
            <a:endParaRPr lang="en-US" sz="1400" dirty="0"/>
          </a:p>
        </p:txBody>
      </p:sp>
      <p:sp>
        <p:nvSpPr>
          <p:cNvPr id="21" name="Objective card 3"/>
          <p:cNvSpPr/>
          <p:nvPr/>
        </p:nvSpPr>
        <p:spPr>
          <a:xfrm>
            <a:off x="5303520" y="3749040"/>
            <a:ext cx="30632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2" name="Icon badge FaBell"/>
          <p:cNvSpPr/>
          <p:nvPr/>
        </p:nvSpPr>
        <p:spPr>
          <a:xfrm>
            <a:off x="5532120" y="3977640"/>
            <a:ext cx="594360" cy="59436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3" name="Image 3" descr="Bel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654" y="413217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15200" y="3977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03</a:t>
            </a:r>
            <a:endParaRPr lang="en-US" sz="2800" dirty="0"/>
          </a:p>
        </p:txBody>
      </p:sp>
      <p:sp>
        <p:nvSpPr>
          <p:cNvPr id="25" name="Text 19"/>
          <p:cNvSpPr txBox="1"/>
          <p:nvPr/>
        </p:nvSpPr>
        <p:spPr>
          <a:xfrm>
            <a:off x="5532120" y="4709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Proactive enforcement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532120" y="50474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Instantly flag blacklisted vehicles and violations such as red-light jumping or wrong-way driving.</a:t>
            </a:r>
            <a:endParaRPr lang="en-US" sz="1400" dirty="0"/>
          </a:p>
        </p:txBody>
      </p:sp>
      <p:sp>
        <p:nvSpPr>
          <p:cNvPr id="27" name="Objective card 4"/>
          <p:cNvSpPr/>
          <p:nvPr/>
        </p:nvSpPr>
        <p:spPr>
          <a:xfrm>
            <a:off x="8577072" y="3749040"/>
            <a:ext cx="30632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8" name="Icon badge FaChartBar"/>
          <p:cNvSpPr/>
          <p:nvPr/>
        </p:nvSpPr>
        <p:spPr>
          <a:xfrm>
            <a:off x="8805672" y="397764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9" name="Image 4" descr="ChartBa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0206" y="4132174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588752" y="3977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04</a:t>
            </a:r>
            <a:endParaRPr lang="en-US" sz="2800" dirty="0"/>
          </a:p>
        </p:txBody>
      </p:sp>
      <p:sp>
        <p:nvSpPr>
          <p:cNvPr id="31" name="Text 24"/>
          <p:cNvSpPr txBox="1"/>
          <p:nvPr/>
        </p:nvSpPr>
        <p:spPr>
          <a:xfrm>
            <a:off x="8805672" y="4709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Predictive traffic insight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805672" y="5047488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Heatmaps and forecasts that help prevent congestion before it forms.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&amp; Key Features</a:t>
            </a:r>
            <a:endParaRPr lang="en-US" sz="3200" dirty="0"/>
          </a:p>
        </p:txBody>
      </p:sp>
      <p:sp>
        <p:nvSpPr>
          <p:cNvPr id="3" name="Capability card 1"/>
          <p:cNvSpPr/>
          <p:nvPr/>
        </p:nvSpPr>
        <p:spPr>
          <a:xfrm>
            <a:off x="548640" y="1371600"/>
            <a:ext cx="359359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pic>
        <p:nvPicPr>
          <p:cNvPr id="4" name="Image 0" descr="Predictive conges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08760"/>
            <a:ext cx="3227832" cy="1463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306324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Predictive congestion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38328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Analyzes live data patterns to predict where jams will occur, enabling proactive route diversions.</a:t>
            </a:r>
            <a:endParaRPr lang="en-US" sz="1400" dirty="0"/>
          </a:p>
        </p:txBody>
      </p:sp>
      <p:sp>
        <p:nvSpPr>
          <p:cNvPr id="7" name="Capability card 2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pic>
        <p:nvPicPr>
          <p:cNvPr id="8" name="Image 1" descr="Automated violation alert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508760"/>
            <a:ext cx="3227832" cy="1463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80560" y="306324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Automated violation alerts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480560" y="338328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ANPR autonomously flags and records violations like red-light jumping or wrong-way driving.</a:t>
            </a:r>
            <a:endParaRPr lang="en-US" sz="1400" dirty="0"/>
          </a:p>
        </p:txBody>
      </p:sp>
      <p:sp>
        <p:nvSpPr>
          <p:cNvPr id="11" name="Capability card 3"/>
          <p:cNvSpPr/>
          <p:nvPr/>
        </p:nvSpPr>
        <p:spPr>
          <a:xfrm>
            <a:off x="8046720" y="1371600"/>
            <a:ext cx="359359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pic>
        <p:nvPicPr>
          <p:cNvPr id="12" name="Image 2" descr="Flow heatmap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1508760"/>
            <a:ext cx="3227832" cy="1463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229600" y="306324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Flow heatmaps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0" y="3383280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Heatmaps of vehicle and pedestrian flow give planners exact data to design better roads.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INNOVATION &amp; EXCLUSIVITY</a:t>
            </a:r>
            <a:endParaRPr lang="en-US" sz="1400" dirty="0"/>
          </a:p>
        </p:txBody>
      </p:sp>
      <p:sp>
        <p:nvSpPr>
          <p:cNvPr id="16" name="Icon badge FaBolt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3" descr="Bo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508040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34440" y="4919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Zero-latency edge AI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1234440" y="523036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Video is processed at the camera, enabling split-second decisions and lower server cost.</a:t>
            </a:r>
            <a:endParaRPr lang="en-US" sz="1400" dirty="0"/>
          </a:p>
        </p:txBody>
      </p:sp>
      <p:sp>
        <p:nvSpPr>
          <p:cNvPr id="20" name="Icon badge FaPuzzlePiece"/>
          <p:cNvSpPr/>
          <p:nvPr/>
        </p:nvSpPr>
        <p:spPr>
          <a:xfrm>
            <a:off x="4297680" y="493776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1" name="Image 4" descr="PuzzlePiec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326" y="508040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983480" y="4919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Plug-and-play integration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983480" y="523036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Works with the city’s existing CCTV, so it scales without expensive new hardware.</a:t>
            </a:r>
            <a:endParaRPr lang="en-US" sz="1400" dirty="0"/>
          </a:p>
        </p:txBody>
      </p:sp>
      <p:sp>
        <p:nvSpPr>
          <p:cNvPr id="24" name="Icon badge FaBrain"/>
          <p:cNvSpPr/>
          <p:nvPr/>
        </p:nvSpPr>
        <p:spPr>
          <a:xfrm>
            <a:off x="8046720" y="4937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5" name="Image 5" descr="Brain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9366" y="5080406"/>
            <a:ext cx="263347" cy="263347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732520" y="4919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Multi-modal predictive engine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8732520" y="523036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Combines historical data, weather and pedestrian movement to prevent traffic before it forms.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Technology Stack</a:t>
            </a:r>
            <a:endParaRPr lang="en-US" sz="3200" dirty="0"/>
          </a:p>
        </p:txBody>
      </p:sp>
      <p:sp>
        <p:nvSpPr>
          <p:cNvPr id="3" name="Tier 1"/>
          <p:cNvSpPr/>
          <p:nvPr/>
        </p:nvSpPr>
        <p:spPr>
          <a:xfrm>
            <a:off x="548640" y="13716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Icon badge FaMicrochip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Microchi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69712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Edge layer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7647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City IP cameras (RTSP) feed NVIDIA Jetson running YOLOv8 + OpenCV</a:t>
            </a:r>
            <a:endParaRPr lang="en-US" sz="1400" dirty="0"/>
          </a:p>
        </p:txBody>
      </p:sp>
      <p:pic>
        <p:nvPicPr>
          <p:cNvPr id="8" name="Image 1" descr="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304288"/>
            <a:ext cx="237744" cy="237744"/>
          </a:xfrm>
          <a:prstGeom prst="rect">
            <a:avLst/>
          </a:prstGeom>
        </p:spPr>
      </p:pic>
      <p:sp>
        <p:nvSpPr>
          <p:cNvPr id="9" name="Tier 2"/>
          <p:cNvSpPr/>
          <p:nvPr/>
        </p:nvSpPr>
        <p:spPr>
          <a:xfrm>
            <a:off x="548640" y="256032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0" name="Icon badge FaStream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1" name="Image 2" descr="Strea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88584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2651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Streaming layer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1463040" y="295351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Apache Kafka carries lightweight metadata at high speed</a:t>
            </a:r>
            <a:endParaRPr lang="en-US" sz="1400" dirty="0"/>
          </a:p>
        </p:txBody>
      </p:sp>
      <p:pic>
        <p:nvPicPr>
          <p:cNvPr id="14" name="Image 3" descr="arr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493008"/>
            <a:ext cx="237744" cy="237744"/>
          </a:xfrm>
          <a:prstGeom prst="rect">
            <a:avLst/>
          </a:prstGeom>
        </p:spPr>
      </p:pic>
      <p:sp>
        <p:nvSpPr>
          <p:cNvPr id="15" name="Tier 3"/>
          <p:cNvSpPr/>
          <p:nvPr/>
        </p:nvSpPr>
        <p:spPr>
          <a:xfrm>
            <a:off x="548640" y="374904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6" name="Icon badge FaServer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4" descr="Serve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4074566"/>
            <a:ext cx="263347" cy="26334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63040" y="3840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Backend &amp; data layer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1463040" y="4142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FastAPI with PostgreSQL, Redis cache and object storage</a:t>
            </a:r>
            <a:endParaRPr lang="en-US" sz="1400" dirty="0"/>
          </a:p>
        </p:txBody>
      </p:sp>
      <p:pic>
        <p:nvPicPr>
          <p:cNvPr id="20" name="Image 5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7248" y="4681728"/>
            <a:ext cx="237744" cy="237744"/>
          </a:xfrm>
          <a:prstGeom prst="rect">
            <a:avLst/>
          </a:prstGeom>
        </p:spPr>
      </p:pic>
      <p:sp>
        <p:nvSpPr>
          <p:cNvPr id="21" name="Tier 4"/>
          <p:cNvSpPr/>
          <p:nvPr/>
        </p:nvSpPr>
        <p:spPr>
          <a:xfrm>
            <a:off x="548640" y="493776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22" name="Icon badge FaDesktop"/>
          <p:cNvSpPr/>
          <p:nvPr/>
        </p:nvSpPr>
        <p:spPr>
          <a:xfrm>
            <a:off x="731520" y="512064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3" name="Image 6" descr="Desktop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" y="5263286"/>
            <a:ext cx="263347" cy="26334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463040" y="5029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Presentation layer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1463040" y="53309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React.js dashboard with Mapbox / Leaflet live maps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6309360" y="1371600"/>
            <a:ext cx="5330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27" name="Stack row 1"/>
          <p:cNvSpPr/>
          <p:nvPr/>
        </p:nvSpPr>
        <p:spPr>
          <a:xfrm>
            <a:off x="6309360" y="1737360"/>
            <a:ext cx="5330952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</p:sp>
      <p:sp>
        <p:nvSpPr>
          <p:cNvPr id="28" name="Text 19"/>
          <p:cNvSpPr txBox="1"/>
          <p:nvPr/>
        </p:nvSpPr>
        <p:spPr>
          <a:xfrm>
            <a:off x="644652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Frontend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8229600" y="17373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React.js, Mapbox / Leaflet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6446520" y="2167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Backend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8229600" y="216712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FastAPI</a:t>
            </a:r>
            <a:endParaRPr lang="en-US" sz="1400" dirty="0"/>
          </a:p>
        </p:txBody>
      </p:sp>
      <p:sp>
        <p:nvSpPr>
          <p:cNvPr id="32" name="Stack row 3"/>
          <p:cNvSpPr/>
          <p:nvPr/>
        </p:nvSpPr>
        <p:spPr>
          <a:xfrm>
            <a:off x="6309360" y="2596896"/>
            <a:ext cx="5330952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</p:sp>
      <p:sp>
        <p:nvSpPr>
          <p:cNvPr id="33" name="Text 24"/>
          <p:cNvSpPr txBox="1"/>
          <p:nvPr/>
        </p:nvSpPr>
        <p:spPr>
          <a:xfrm>
            <a:off x="6446520" y="259689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Database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229600" y="259689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PostgreSQL, Redis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6446520" y="302666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/ Vision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8229600" y="302666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YOLOv8, OpenCV, DeepSORT</a:t>
            </a:r>
            <a:endParaRPr lang="en-US" sz="1400" dirty="0"/>
          </a:p>
        </p:txBody>
      </p:sp>
      <p:sp>
        <p:nvSpPr>
          <p:cNvPr id="37" name="Stack row 5"/>
          <p:cNvSpPr/>
          <p:nvPr/>
        </p:nvSpPr>
        <p:spPr>
          <a:xfrm>
            <a:off x="6309360" y="3456432"/>
            <a:ext cx="5330952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</p:sp>
      <p:sp>
        <p:nvSpPr>
          <p:cNvPr id="38" name="Text 29"/>
          <p:cNvSpPr txBox="1"/>
          <p:nvPr/>
        </p:nvSpPr>
        <p:spPr>
          <a:xfrm>
            <a:off x="6446520" y="34564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 hardware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8229600" y="34564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NVIDIA Jetson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644652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Streaming</a:t>
            </a:r>
            <a:endParaRPr lang="en-US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8229600" y="38862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Apache Kafka</a:t>
            </a:r>
            <a:endParaRPr lang="en-US" sz="1400" dirty="0"/>
          </a:p>
        </p:txBody>
      </p:sp>
      <p:sp>
        <p:nvSpPr>
          <p:cNvPr id="42" name="Stack row 7"/>
          <p:cNvSpPr/>
          <p:nvPr/>
        </p:nvSpPr>
        <p:spPr>
          <a:xfrm>
            <a:off x="6309360" y="4315968"/>
            <a:ext cx="5330952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6446520" y="43159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Authentication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8229600" y="4315968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OAuth 2.0 / JWT</a:t>
            </a:r>
            <a:endParaRPr lang="en-US" sz="1400" dirty="0"/>
          </a:p>
        </p:txBody>
      </p:sp>
      <p:sp>
        <p:nvSpPr>
          <p:cNvPr id="45" name="Text 36"/>
          <p:cNvSpPr txBox="1"/>
          <p:nvPr/>
        </p:nvSpPr>
        <p:spPr>
          <a:xfrm>
            <a:off x="6446520" y="47457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API</a:t>
            </a:r>
            <a:endParaRPr lang="en-US" sz="1400" dirty="0"/>
          </a:p>
        </p:txBody>
      </p:sp>
      <p:sp>
        <p:nvSpPr>
          <p:cNvPr id="46" name="Text 37"/>
          <p:cNvSpPr txBox="1"/>
          <p:nvPr/>
        </p:nvSpPr>
        <p:spPr>
          <a:xfrm>
            <a:off x="8229600" y="4745736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GraphQL</a:t>
            </a:r>
            <a:endParaRPr lang="en-US" sz="1400" dirty="0"/>
          </a:p>
        </p:txBody>
      </p:sp>
      <p:sp>
        <p:nvSpPr>
          <p:cNvPr id="47" name="Stack row 9"/>
          <p:cNvSpPr/>
          <p:nvPr/>
        </p:nvSpPr>
        <p:spPr>
          <a:xfrm>
            <a:off x="6309360" y="5175504"/>
            <a:ext cx="5330952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/>
        </p:spPr>
      </p:sp>
      <p:sp>
        <p:nvSpPr>
          <p:cNvPr id="48" name="Text 39"/>
          <p:cNvSpPr txBox="1"/>
          <p:nvPr/>
        </p:nvSpPr>
        <p:spPr>
          <a:xfrm>
            <a:off x="6446520" y="5175504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</a:t>
            </a:r>
            <a:endParaRPr lang="en-US" sz="1400" dirty="0"/>
          </a:p>
        </p:txBody>
      </p:sp>
      <p:sp>
        <p:nvSpPr>
          <p:cNvPr id="49" name="Text 40"/>
          <p:cNvSpPr txBox="1"/>
          <p:nvPr/>
        </p:nvSpPr>
        <p:spPr>
          <a:xfrm>
            <a:off x="8229600" y="517550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AWS</a:t>
            </a:r>
            <a:endParaRPr lang="en-US" sz="1400" dirty="0"/>
          </a:p>
        </p:txBody>
      </p:sp>
      <p:sp>
        <p:nvSpPr>
          <p:cNvPr id="50" name="Text 41"/>
          <p:cNvSpPr txBox="1"/>
          <p:nvPr/>
        </p:nvSpPr>
        <p:spPr>
          <a:xfrm>
            <a:off x="6446520" y="56052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NLP &amp; speech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8229600" y="560527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Transformers, Speech-to-Text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Methodology &amp; Workflow</a:t>
            </a:r>
            <a:endParaRPr lang="en-US" sz="3200" dirty="0"/>
          </a:p>
        </p:txBody>
      </p:sp>
      <p:sp>
        <p:nvSpPr>
          <p:cNvPr id="3" name="Step number 1"/>
          <p:cNvSpPr/>
          <p:nvPr/>
        </p:nvSpPr>
        <p:spPr>
          <a:xfrm>
            <a:off x="548640" y="1481328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0817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Video ingestion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373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Capture live streams from city IP cameras over RTSP.</a:t>
            </a:r>
            <a:endParaRPr lang="en-US" sz="1400" dirty="0"/>
          </a:p>
        </p:txBody>
      </p:sp>
      <p:sp>
        <p:nvSpPr>
          <p:cNvPr id="7" name="Step number 2"/>
          <p:cNvSpPr/>
          <p:nvPr/>
        </p:nvSpPr>
        <p:spPr>
          <a:xfrm>
            <a:off x="548640" y="242316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5000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Real-time AI processing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7919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Run YOLOv8 and OpenCV on edge hardware (NVIDIA Jetson) for vehicle tracking and incident detection.</a:t>
            </a:r>
            <a:endParaRPr lang="en-US" sz="1400" dirty="0"/>
          </a:p>
        </p:txBody>
      </p:sp>
      <p:sp>
        <p:nvSpPr>
          <p:cNvPr id="11" name="Step number 3"/>
          <p:cNvSpPr/>
          <p:nvPr/>
        </p:nvSpPr>
        <p:spPr>
          <a:xfrm>
            <a:off x="548640" y="3364992"/>
            <a:ext cx="566928" cy="566928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64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2918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High-speed streaming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2102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Send lightweight metadata through Apache Kafka to the FastAPI backend.</a:t>
            </a:r>
            <a:endParaRPr lang="en-US" sz="1400" dirty="0"/>
          </a:p>
        </p:txBody>
      </p:sp>
      <p:sp>
        <p:nvSpPr>
          <p:cNvPr id="15" name="Step number 4"/>
          <p:cNvSpPr/>
          <p:nvPr/>
        </p:nvSpPr>
        <p:spPr>
          <a:xfrm>
            <a:off x="548640" y="4306824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306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3367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storage &amp; analytics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562856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Keep logs and patterns in PostgreSQL; use Redis for fast lookups.</a:t>
            </a:r>
            <a:endParaRPr lang="en-US" sz="1400" dirty="0"/>
          </a:p>
        </p:txBody>
      </p:sp>
      <p:sp>
        <p:nvSpPr>
          <p:cNvPr id="19" name="Step number 5"/>
          <p:cNvSpPr/>
          <p:nvPr/>
        </p:nvSpPr>
        <p:spPr>
          <a:xfrm>
            <a:off x="548640" y="5248656"/>
            <a:ext cx="566928" cy="5669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48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17550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Interactive dashboard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50468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Show live traffic, heatmaps and alerts on a React.js + Mapbox frontend.</a:t>
            </a:r>
            <a:endParaRPr lang="en-US" sz="1400" dirty="0"/>
          </a:p>
        </p:txBody>
      </p:sp>
      <p:sp>
        <p:nvSpPr>
          <p:cNvPr id="23" name="Flowchart card"/>
          <p:cNvSpPr/>
          <p:nvPr/>
        </p:nvSpPr>
        <p:spPr>
          <a:xfrm>
            <a:off x="7040880" y="1371600"/>
            <a:ext cx="4599432" cy="4754880"/>
          </a:xfrm>
          <a:prstGeom prst="roundRect">
            <a:avLst>
              <a:gd name="adj" fmla="val 2386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269480" y="14813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End-to-end processing flow</a:t>
            </a:r>
            <a:endParaRPr lang="en-US" sz="1400" dirty="0"/>
          </a:p>
        </p:txBody>
      </p:sp>
      <p:pic>
        <p:nvPicPr>
          <p:cNvPr id="25" name="Image 0" descr="Flowchart from live camera input through AI processing, Kafka streaming, storage and watchlist check to alerts and dashboar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83080"/>
            <a:ext cx="3383280" cy="41330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Multi-Camera Vehicle Detection &amp; ANPR</a:t>
            </a:r>
            <a:endParaRPr lang="en-US" sz="3200" dirty="0"/>
          </a:p>
        </p:txBody>
      </p:sp>
      <p:sp>
        <p:nvSpPr>
          <p:cNvPr id="3" name="Stage 1"/>
          <p:cNvSpPr/>
          <p:nvPr/>
        </p:nvSpPr>
        <p:spPr>
          <a:xfrm>
            <a:off x="548640" y="1371600"/>
            <a:ext cx="1920240" cy="1965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Icon badge FaVideo"/>
          <p:cNvSpPr/>
          <p:nvPr/>
        </p:nvSpPr>
        <p:spPr>
          <a:xfrm>
            <a:off x="1234440" y="153619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Video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086" y="1678838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Pre-processing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523744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Resize, normalize and reduce noise</a:t>
            </a:r>
            <a:endParaRPr lang="en-US" sz="1400" dirty="0"/>
          </a:p>
        </p:txBody>
      </p:sp>
      <p:pic>
        <p:nvPicPr>
          <p:cNvPr id="8" name="Image 1" descr="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240280"/>
            <a:ext cx="274320" cy="274320"/>
          </a:xfrm>
          <a:prstGeom prst="rect">
            <a:avLst/>
          </a:prstGeom>
        </p:spPr>
      </p:pic>
      <p:sp>
        <p:nvSpPr>
          <p:cNvPr id="9" name="Stage 2"/>
          <p:cNvSpPr/>
          <p:nvPr/>
        </p:nvSpPr>
        <p:spPr>
          <a:xfrm>
            <a:off x="2834640" y="1371600"/>
            <a:ext cx="1920240" cy="1965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Icon badge FaCarSide"/>
          <p:cNvSpPr/>
          <p:nvPr/>
        </p:nvSpPr>
        <p:spPr>
          <a:xfrm>
            <a:off x="3520440" y="153619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2" descr="CarSid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086" y="1678838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9260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Vehicle detection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944368" y="2523744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YOLOv8 + OpenCV on the edge node</a:t>
            </a:r>
            <a:endParaRPr lang="en-US" sz="1400" dirty="0"/>
          </a:p>
        </p:txBody>
      </p:sp>
      <p:pic>
        <p:nvPicPr>
          <p:cNvPr id="14" name="Image 3" descr="arr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40280"/>
            <a:ext cx="274320" cy="274320"/>
          </a:xfrm>
          <a:prstGeom prst="rect">
            <a:avLst/>
          </a:prstGeom>
        </p:spPr>
      </p:pic>
      <p:sp>
        <p:nvSpPr>
          <p:cNvPr id="15" name="Stage 3"/>
          <p:cNvSpPr/>
          <p:nvPr/>
        </p:nvSpPr>
        <p:spPr>
          <a:xfrm>
            <a:off x="5120640" y="1371600"/>
            <a:ext cx="1920240" cy="1965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Icon badge FaSearch"/>
          <p:cNvSpPr/>
          <p:nvPr/>
        </p:nvSpPr>
        <p:spPr>
          <a:xfrm>
            <a:off x="5806440" y="1536192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7" name="Image 4" descr="Search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9086" y="1678838"/>
            <a:ext cx="263347" cy="26334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2120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Crop &amp; extract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5230368" y="2523744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Isolate the vehicle and plate region</a:t>
            </a:r>
            <a:endParaRPr lang="en-US" sz="1400" dirty="0"/>
          </a:p>
        </p:txBody>
      </p:sp>
      <p:pic>
        <p:nvPicPr>
          <p:cNvPr id="20" name="Image 5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240280"/>
            <a:ext cx="274320" cy="274320"/>
          </a:xfrm>
          <a:prstGeom prst="rect">
            <a:avLst/>
          </a:prstGeom>
        </p:spPr>
      </p:pic>
      <p:sp>
        <p:nvSpPr>
          <p:cNvPr id="21" name="Stage 4"/>
          <p:cNvSpPr/>
          <p:nvPr/>
        </p:nvSpPr>
        <p:spPr>
          <a:xfrm>
            <a:off x="7406640" y="1371600"/>
            <a:ext cx="1920240" cy="19659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2" name="Icon badge FaIdCard"/>
          <p:cNvSpPr/>
          <p:nvPr/>
        </p:nvSpPr>
        <p:spPr>
          <a:xfrm>
            <a:off x="8092440" y="153619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3" name="Image 6" descr="IdCard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5086" y="1678838"/>
            <a:ext cx="263347" cy="263347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498080" y="2194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OCR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7516368" y="2523744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Read the plate characters as text</a:t>
            </a:r>
            <a:endParaRPr lang="en-US" sz="1400" dirty="0"/>
          </a:p>
        </p:txBody>
      </p:sp>
      <p:pic>
        <p:nvPicPr>
          <p:cNvPr id="26" name="Image 7" descr="arrow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2240280"/>
            <a:ext cx="274320" cy="274320"/>
          </a:xfrm>
          <a:prstGeom prst="rect">
            <a:avLst/>
          </a:prstGeom>
        </p:spPr>
      </p:pic>
      <p:sp>
        <p:nvSpPr>
          <p:cNvPr id="27" name="Number plate"/>
          <p:cNvSpPr/>
          <p:nvPr/>
        </p:nvSpPr>
        <p:spPr>
          <a:xfrm>
            <a:off x="9692640" y="1828800"/>
            <a:ext cx="1920240" cy="68580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31750">
            <a:solidFill>
              <a:schemeClr val="tx1"/>
            </a:solidFill>
            <a:prstDash val="solid"/>
          </a:ln>
        </p:spPr>
      </p:sp>
      <p:sp>
        <p:nvSpPr>
          <p:cNvPr id="28" name="Text 18"/>
          <p:cNvSpPr txBox="1"/>
          <p:nvPr/>
        </p:nvSpPr>
        <p:spPr>
          <a:xfrm>
            <a:off x="9692640" y="18288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 02 AB 1234</a:t>
            </a:r>
            <a:endParaRPr lang="en-US" sz="1800" dirty="0"/>
          </a:p>
        </p:txBody>
      </p:sp>
      <p:sp>
        <p:nvSpPr>
          <p:cNvPr id="29" name="Text 19"/>
          <p:cNvSpPr txBox="1"/>
          <p:nvPr/>
        </p:nvSpPr>
        <p:spPr>
          <a:xfrm>
            <a:off x="9692640" y="26517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Plate text output (example)</a:t>
            </a:r>
            <a:endParaRPr lang="en-US" sz="1400" dirty="0"/>
          </a:p>
        </p:txBody>
      </p:sp>
      <p:sp>
        <p:nvSpPr>
          <p:cNvPr id="30" name="ANPR detail 1"/>
          <p:cNvSpPr/>
          <p:nvPr/>
        </p:nvSpPr>
        <p:spPr>
          <a:xfrm>
            <a:off x="548640" y="365760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1" name="Icon badge FaMicrochip"/>
          <p:cNvSpPr/>
          <p:nvPr/>
        </p:nvSpPr>
        <p:spPr>
          <a:xfrm>
            <a:off x="777240" y="385876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2" name="Image 8" descr="Microchip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9886" y="4001414"/>
            <a:ext cx="263347" cy="263347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146304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Edge-first processing</a:t>
            </a:r>
            <a:endParaRPr lang="en-US" sz="1600" dirty="0"/>
          </a:p>
        </p:txBody>
      </p:sp>
      <p:sp>
        <p:nvSpPr>
          <p:cNvPr id="34" name="Text 23"/>
          <p:cNvSpPr txBox="1"/>
          <p:nvPr/>
        </p:nvSpPr>
        <p:spPr>
          <a:xfrm>
            <a:off x="777240" y="45720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NVIDIA Jetson devices process video at the camera and send only lightweight metadata upstream, saving bandwidth and cost.</a:t>
            </a:r>
            <a:endParaRPr lang="en-US" sz="1400" dirty="0"/>
          </a:p>
        </p:txBody>
      </p:sp>
      <p:sp>
        <p:nvSpPr>
          <p:cNvPr id="35" name="ANPR detail 2"/>
          <p:cNvSpPr/>
          <p:nvPr/>
        </p:nvSpPr>
        <p:spPr>
          <a:xfrm>
            <a:off x="4297680" y="365760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6" name="Icon badge FaClipboardCheck"/>
          <p:cNvSpPr/>
          <p:nvPr/>
        </p:nvSpPr>
        <p:spPr>
          <a:xfrm>
            <a:off x="4526280" y="385876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7" name="Image 9" descr="ClipboardCheck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8926" y="4001414"/>
            <a:ext cx="263347" cy="263347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521208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Metadata extracted</a:t>
            </a:r>
            <a:endParaRPr lang="en-US" sz="1600" dirty="0"/>
          </a:p>
        </p:txBody>
      </p:sp>
      <p:sp>
        <p:nvSpPr>
          <p:cNvPr id="39" name="Text 27"/>
          <p:cNvSpPr txBox="1"/>
          <p:nvPr/>
        </p:nvSpPr>
        <p:spPr>
          <a:xfrm>
            <a:off x="4526280" y="45720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For each vehicle: plate, time, location, speed, direction and vehicle count, passed on for storage and alerts.</a:t>
            </a:r>
            <a:endParaRPr lang="en-US" sz="1400" dirty="0"/>
          </a:p>
        </p:txBody>
      </p:sp>
      <p:sp>
        <p:nvSpPr>
          <p:cNvPr id="40" name="ANPR detail 3"/>
          <p:cNvSpPr/>
          <p:nvPr/>
        </p:nvSpPr>
        <p:spPr>
          <a:xfrm>
            <a:off x="8046720" y="3657600"/>
            <a:ext cx="359359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1" name="Icon badge FaShieldAlt"/>
          <p:cNvSpPr/>
          <p:nvPr/>
        </p:nvSpPr>
        <p:spPr>
          <a:xfrm>
            <a:off x="8275320" y="3858768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42" name="Image 10" descr="ShieldAlt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17966" y="4001414"/>
            <a:ext cx="263347" cy="263347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961120" y="385876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 and privacy-aware</a:t>
            </a:r>
            <a:endParaRPr lang="en-US" sz="1600" dirty="0"/>
          </a:p>
        </p:txBody>
      </p:sp>
      <p:sp>
        <p:nvSpPr>
          <p:cNvPr id="44" name="Text 31"/>
          <p:cNvSpPr txBox="1"/>
          <p:nvPr/>
        </p:nvSpPr>
        <p:spPr>
          <a:xfrm>
            <a:off x="8275320" y="45720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Adapts to low light and bad weather, and masks pedestrians to support privacy compliance.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Re-Identification &amp; Trajectory Reconstruction</a:t>
            </a:r>
            <a:endParaRPr lang="en-US" sz="3200" dirty="0"/>
          </a:p>
        </p:txBody>
      </p:sp>
      <p:sp>
        <p:nvSpPr>
          <p:cNvPr id="3" name="Re-ID step 1"/>
          <p:cNvSpPr/>
          <p:nvPr/>
        </p:nvSpPr>
        <p:spPr>
          <a:xfrm>
            <a:off x="548640" y="1371600"/>
            <a:ext cx="5120640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4" name="Icon badge FaCamera"/>
          <p:cNvSpPr/>
          <p:nvPr/>
        </p:nvSpPr>
        <p:spPr>
          <a:xfrm>
            <a:off x="685800" y="1527048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Camera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446" y="1669694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447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In-camera tracking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DeepSORT tracks each vehicle within one camera view.</a:t>
            </a:r>
            <a:endParaRPr lang="en-US" sz="1400" dirty="0"/>
          </a:p>
        </p:txBody>
      </p:sp>
      <p:sp>
        <p:nvSpPr>
          <p:cNvPr id="8" name="Re-ID step 2"/>
          <p:cNvSpPr/>
          <p:nvPr/>
        </p:nvSpPr>
        <p:spPr>
          <a:xfrm>
            <a:off x="548640" y="2322576"/>
            <a:ext cx="5120640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9" name="Icon badge FaFingerprint"/>
          <p:cNvSpPr/>
          <p:nvPr/>
        </p:nvSpPr>
        <p:spPr>
          <a:xfrm>
            <a:off x="685800" y="2478024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1" descr="Fingerpri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" y="2620670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2395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Appearance embeddings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417320" y="26883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Color, model and type features describe each vehicle.</a:t>
            </a:r>
            <a:endParaRPr lang="en-US" sz="1400" dirty="0"/>
          </a:p>
        </p:txBody>
      </p:sp>
      <p:sp>
        <p:nvSpPr>
          <p:cNvPr id="13" name="Re-ID step 3"/>
          <p:cNvSpPr/>
          <p:nvPr/>
        </p:nvSpPr>
        <p:spPr>
          <a:xfrm>
            <a:off x="548640" y="3273552"/>
            <a:ext cx="5120640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14" name="Icon badge FaLink"/>
          <p:cNvSpPr/>
          <p:nvPr/>
        </p:nvSpPr>
        <p:spPr>
          <a:xfrm>
            <a:off x="685800" y="342900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5" name="Image 2" descr="Lin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" y="357164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34670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Plate + Re-ID fusion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63931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Visual features, color and road routes link sightings, not just plates.</a:t>
            </a:r>
            <a:endParaRPr lang="en-US" sz="1400" dirty="0"/>
          </a:p>
        </p:txBody>
      </p:sp>
      <p:sp>
        <p:nvSpPr>
          <p:cNvPr id="18" name="Re-ID step 4"/>
          <p:cNvSpPr/>
          <p:nvPr/>
        </p:nvSpPr>
        <p:spPr>
          <a:xfrm>
            <a:off x="548640" y="4224528"/>
            <a:ext cx="5120640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19" name="Icon badge FaCodeBranch"/>
          <p:cNvSpPr/>
          <p:nvPr/>
        </p:nvSpPr>
        <p:spPr>
          <a:xfrm>
            <a:off x="685800" y="437997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3" descr="CodeBranc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" y="4522622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297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Temporal graph mapping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417320" y="45902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Sightings are placed on the road-network graph to stitch non-overlapping feeds.</a:t>
            </a:r>
            <a:endParaRPr lang="en-US" sz="1400" dirty="0"/>
          </a:p>
        </p:txBody>
      </p:sp>
      <p:sp>
        <p:nvSpPr>
          <p:cNvPr id="23" name="Re-ID step 5"/>
          <p:cNvSpPr/>
          <p:nvPr/>
        </p:nvSpPr>
        <p:spPr>
          <a:xfrm>
            <a:off x="548640" y="5175504"/>
            <a:ext cx="5120640" cy="859536"/>
          </a:xfrm>
          <a:prstGeom prst="roundRect">
            <a:avLst>
              <a:gd name="adj" fmla="val 12766"/>
            </a:avLst>
          </a:prstGeom>
          <a:solidFill>
            <a:schemeClr val="bg2"/>
          </a:solidFill>
          <a:ln/>
        </p:spPr>
      </p:sp>
      <p:sp>
        <p:nvSpPr>
          <p:cNvPr id="24" name="Icon badge FaDatabase"/>
          <p:cNvSpPr/>
          <p:nvPr/>
        </p:nvSpPr>
        <p:spPr>
          <a:xfrm>
            <a:off x="685800" y="5330952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5" name="Image 4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446" y="5473598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52486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Spatial-temporal database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417320" y="55412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Timestamped sightings support route queries.</a:t>
            </a:r>
            <a:endParaRPr lang="en-US" sz="1400" dirty="0"/>
          </a:p>
        </p:txBody>
      </p:sp>
      <p:sp>
        <p:nvSpPr>
          <p:cNvPr id="28" name="Dashboard screenshot card"/>
          <p:cNvSpPr/>
          <p:nvPr/>
        </p:nvSpPr>
        <p:spPr>
          <a:xfrm>
            <a:off x="5943600" y="1371600"/>
            <a:ext cx="5696712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pic>
        <p:nvPicPr>
          <p:cNvPr id="29" name="Image 5" descr="Trajectory Forensics dashboard showing a reconstructed route, sightings chronology and a kinematic anomaly ale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508760"/>
            <a:ext cx="5422392" cy="26060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080760" y="41605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Trajectory Forensics view in the demo dashboard</a:t>
            </a:r>
            <a:endParaRPr lang="en-US" sz="1400" dirty="0"/>
          </a:p>
        </p:txBody>
      </p:sp>
      <p:sp>
        <p:nvSpPr>
          <p:cNvPr id="31" name="Trajectory callout 1"/>
          <p:cNvSpPr/>
          <p:nvPr/>
        </p:nvSpPr>
        <p:spPr>
          <a:xfrm>
            <a:off x="5943600" y="4709160"/>
            <a:ext cx="2788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2" name="Icon badge FaRoute"/>
          <p:cNvSpPr/>
          <p:nvPr/>
        </p:nvSpPr>
        <p:spPr>
          <a:xfrm>
            <a:off x="6126480" y="48463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3" name="Image 6" descr="Rout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465" y="4953305"/>
            <a:ext cx="197510" cy="19751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656832" y="4846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more blind spots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6126480" y="5349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Road-network topology reconstructs continuous, city-wide vehicle trajectories.</a:t>
            </a:r>
            <a:endParaRPr lang="en-US" sz="1400" dirty="0"/>
          </a:p>
        </p:txBody>
      </p:sp>
      <p:sp>
        <p:nvSpPr>
          <p:cNvPr id="36" name="Trajectory callout 2"/>
          <p:cNvSpPr/>
          <p:nvPr/>
        </p:nvSpPr>
        <p:spPr>
          <a:xfrm>
            <a:off x="8851392" y="4709160"/>
            <a:ext cx="27889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</p:spPr>
      </p:sp>
      <p:sp>
        <p:nvSpPr>
          <p:cNvPr id="37" name="Icon badge FaExclamationTriangle"/>
          <p:cNvSpPr/>
          <p:nvPr/>
        </p:nvSpPr>
        <p:spPr>
          <a:xfrm>
            <a:off x="9034272" y="4846320"/>
            <a:ext cx="411480" cy="41148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8" name="Image 7" descr="ExclamationTriangl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1257" y="4953305"/>
            <a:ext cx="197510" cy="19751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564624" y="48463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Kinematic anomaly check</a:t>
            </a:r>
            <a:endParaRPr lang="en-US" sz="1400" dirty="0"/>
          </a:p>
        </p:txBody>
      </p:sp>
      <p:sp>
        <p:nvSpPr>
          <p:cNvPr id="40" name="Text 30"/>
          <p:cNvSpPr txBox="1"/>
          <p:nvPr/>
        </p:nvSpPr>
        <p:spPr>
          <a:xfrm>
            <a:off x="9034272" y="5349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Impossible speeds between sightings flag a probable cloned plate.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Analytics, Heatmaps &amp; Prediction</a:t>
            </a:r>
            <a:endParaRPr lang="en-US" sz="3200" dirty="0"/>
          </a:p>
        </p:txBody>
      </p:sp>
      <p:sp>
        <p:nvSpPr>
          <p:cNvPr id="3" name="Analytics card 1"/>
          <p:cNvSpPr/>
          <p:nvPr/>
        </p:nvSpPr>
        <p:spPr>
          <a:xfrm>
            <a:off x="548640" y="1371600"/>
            <a:ext cx="546811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pic>
        <p:nvPicPr>
          <p:cNvPr id="4" name="Image 0" descr="Heatmaps for plann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554480"/>
            <a:ext cx="2377440" cy="1920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9184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Heatmaps for planners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9659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Vehicle and pedestrian flow heatmaps show where roads are stressed, with traffic density, speed and incident counts.</a:t>
            </a:r>
            <a:endParaRPr lang="en-US" sz="1400" dirty="0"/>
          </a:p>
        </p:txBody>
      </p:sp>
      <p:sp>
        <p:nvSpPr>
          <p:cNvPr id="7" name="Analytics card 2"/>
          <p:cNvSpPr/>
          <p:nvPr/>
        </p:nvSpPr>
        <p:spPr>
          <a:xfrm>
            <a:off x="6172200" y="1371600"/>
            <a:ext cx="5468112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pic>
        <p:nvPicPr>
          <p:cNvPr id="8" name="Image 1" descr="Live congestion map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554480"/>
            <a:ext cx="2377440" cy="1920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91540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congestion map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915400" y="1965960"/>
            <a:ext cx="2560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Live traffic layers on Mapbox / Leaflet highlight slow corridors and route alternatives in real time.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MULTI-MODAL PREDICTIVE ENGINE</a:t>
            </a:r>
            <a:endParaRPr lang="en-US" sz="1400" dirty="0"/>
          </a:p>
        </p:txBody>
      </p:sp>
      <p:sp>
        <p:nvSpPr>
          <p:cNvPr id="12" name="Input 1"/>
          <p:cNvSpPr/>
          <p:nvPr/>
        </p:nvSpPr>
        <p:spPr>
          <a:xfrm>
            <a:off x="548640" y="4251960"/>
            <a:ext cx="3200400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425196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Historical traffic data</a:t>
            </a:r>
            <a:endParaRPr lang="en-US" sz="1400" dirty="0"/>
          </a:p>
        </p:txBody>
      </p:sp>
      <p:sp>
        <p:nvSpPr>
          <p:cNvPr id="14" name="Input 2"/>
          <p:cNvSpPr/>
          <p:nvPr/>
        </p:nvSpPr>
        <p:spPr>
          <a:xfrm>
            <a:off x="548640" y="4873752"/>
            <a:ext cx="3200400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1520" y="487375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Weather conditions</a:t>
            </a:r>
            <a:endParaRPr lang="en-US" sz="1400" dirty="0"/>
          </a:p>
        </p:txBody>
      </p:sp>
      <p:sp>
        <p:nvSpPr>
          <p:cNvPr id="16" name="Input 3"/>
          <p:cNvSpPr/>
          <p:nvPr/>
        </p:nvSpPr>
        <p:spPr>
          <a:xfrm>
            <a:off x="548640" y="5495544"/>
            <a:ext cx="3200400" cy="512064"/>
          </a:xfrm>
          <a:prstGeom prst="roundRect">
            <a:avLst>
              <a:gd name="adj" fmla="val 17857"/>
            </a:avLst>
          </a:prstGeom>
          <a:solidFill>
            <a:schemeClr val="bg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54955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Pedestrian movement</a:t>
            </a:r>
            <a:endParaRPr lang="en-US" sz="1400" dirty="0"/>
          </a:p>
        </p:txBody>
      </p:sp>
      <p:pic>
        <p:nvPicPr>
          <p:cNvPr id="18" name="Image 2" descr="arr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074920"/>
            <a:ext cx="320040" cy="320040"/>
          </a:xfrm>
          <a:prstGeom prst="rect">
            <a:avLst/>
          </a:prstGeom>
        </p:spPr>
      </p:pic>
      <p:sp>
        <p:nvSpPr>
          <p:cNvPr id="19" name="LSTM box"/>
          <p:cNvSpPr/>
          <p:nvPr/>
        </p:nvSpPr>
        <p:spPr>
          <a:xfrm>
            <a:off x="4617720" y="4251960"/>
            <a:ext cx="2926080" cy="1755648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/>
        </p:spPr>
      </p:sp>
      <p:sp>
        <p:nvSpPr>
          <p:cNvPr id="20" name="Icon badge FaBrain"/>
          <p:cNvSpPr/>
          <p:nvPr/>
        </p:nvSpPr>
        <p:spPr>
          <a:xfrm>
            <a:off x="5806440" y="438912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1" name="Image 3" descr="Brai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086" y="453176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54880" y="50292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LSTM congestion forecasting</a:t>
            </a:r>
            <a:endParaRPr lang="en-US" sz="1600" dirty="0"/>
          </a:p>
        </p:txBody>
      </p:sp>
      <p:pic>
        <p:nvPicPr>
          <p:cNvPr id="23" name="Image 4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5074920"/>
            <a:ext cx="320040" cy="320040"/>
          </a:xfrm>
          <a:prstGeom prst="rect">
            <a:avLst/>
          </a:prstGeom>
        </p:spPr>
      </p:pic>
      <p:sp>
        <p:nvSpPr>
          <p:cNvPr id="24" name="Prediction output"/>
          <p:cNvSpPr/>
          <p:nvPr/>
        </p:nvSpPr>
        <p:spPr>
          <a:xfrm>
            <a:off x="8412480" y="4251960"/>
            <a:ext cx="3227832" cy="1755648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595360" y="43891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Prevent traffic before it forms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8595360" y="4800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Predicts where jams will occur so authorities can divert routes proactively.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Operational Workflow</a:t>
            </a:r>
            <a:endParaRPr lang="en-US" sz="3200" dirty="0"/>
          </a:p>
        </p:txBody>
      </p:sp>
      <p:sp>
        <p:nvSpPr>
          <p:cNvPr id="3" name="Dashboard module 1"/>
          <p:cNvSpPr/>
          <p:nvPr/>
        </p:nvSpPr>
        <p:spPr>
          <a:xfrm>
            <a:off x="548640" y="1325880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/>
        </p:spPr>
      </p:sp>
      <p:pic>
        <p:nvPicPr>
          <p:cNvPr id="4" name="Image 0" descr="modu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292608" cy="2926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Overview &amp; Grid</a:t>
            </a:r>
            <a:endParaRPr lang="en-US" sz="1400" dirty="0"/>
          </a:p>
        </p:txBody>
      </p:sp>
      <p:sp>
        <p:nvSpPr>
          <p:cNvPr id="6" name="Dashboard module 2"/>
          <p:cNvSpPr/>
          <p:nvPr/>
        </p:nvSpPr>
        <p:spPr>
          <a:xfrm>
            <a:off x="2795778" y="1325880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/>
        </p:spPr>
      </p:sp>
      <p:pic>
        <p:nvPicPr>
          <p:cNvPr id="7" name="Image 1" descr="modu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938" y="1463040"/>
            <a:ext cx="292608" cy="29260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98698" y="1325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Trajectory Forensics</a:t>
            </a:r>
            <a:endParaRPr lang="en-US" sz="1400" dirty="0"/>
          </a:p>
        </p:txBody>
      </p:sp>
      <p:sp>
        <p:nvSpPr>
          <p:cNvPr id="9" name="Dashboard module 3"/>
          <p:cNvSpPr/>
          <p:nvPr/>
        </p:nvSpPr>
        <p:spPr>
          <a:xfrm>
            <a:off x="5042916" y="1325880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/>
        </p:spPr>
      </p:sp>
      <p:pic>
        <p:nvPicPr>
          <p:cNvPr id="10" name="Image 2" descr="modu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6" y="146304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545836" y="1325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Traffic Analytics</a:t>
            </a:r>
            <a:endParaRPr lang="en-US" sz="1400" dirty="0"/>
          </a:p>
        </p:txBody>
      </p:sp>
      <p:sp>
        <p:nvSpPr>
          <p:cNvPr id="12" name="Dashboard module 4"/>
          <p:cNvSpPr/>
          <p:nvPr/>
        </p:nvSpPr>
        <p:spPr>
          <a:xfrm>
            <a:off x="7290054" y="1325880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/>
        </p:spPr>
      </p:sp>
      <p:pic>
        <p:nvPicPr>
          <p:cNvPr id="13" name="Image 3" descr="modul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7214" y="146304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792974" y="1325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Security &amp; Watchlist</a:t>
            </a:r>
            <a:endParaRPr lang="en-US" sz="1400" dirty="0"/>
          </a:p>
        </p:txBody>
      </p:sp>
      <p:sp>
        <p:nvSpPr>
          <p:cNvPr id="15" name="Dashboard module 5"/>
          <p:cNvSpPr/>
          <p:nvPr/>
        </p:nvSpPr>
        <p:spPr>
          <a:xfrm>
            <a:off x="9537192" y="1325880"/>
            <a:ext cx="2103120" cy="566928"/>
          </a:xfrm>
          <a:prstGeom prst="roundRect">
            <a:avLst>
              <a:gd name="adj" fmla="val 16129"/>
            </a:avLst>
          </a:prstGeom>
          <a:solidFill>
            <a:schemeClr val="tx1"/>
          </a:solidFill>
          <a:ln/>
        </p:spPr>
      </p:sp>
      <p:pic>
        <p:nvPicPr>
          <p:cNvPr id="16" name="Image 4" descr="modu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146304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040112" y="13258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ANPR Vision Lab</a:t>
            </a:r>
            <a:endParaRPr lang="en-US" sz="1400" dirty="0"/>
          </a:p>
        </p:txBody>
      </p:sp>
      <p:sp>
        <p:nvSpPr>
          <p:cNvPr id="18" name="Lane 1"/>
          <p:cNvSpPr/>
          <p:nvPr/>
        </p:nvSpPr>
        <p:spPr>
          <a:xfrm>
            <a:off x="548640" y="214884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9" name="Lane header 1"/>
          <p:cNvSpPr/>
          <p:nvPr/>
        </p:nvSpPr>
        <p:spPr>
          <a:xfrm>
            <a:off x="685800" y="228600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68580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Traffic management</a:t>
            </a:r>
            <a:endParaRPr lang="en-US" sz="1600" dirty="0"/>
          </a:p>
        </p:txBody>
      </p:sp>
      <p:sp>
        <p:nvSpPr>
          <p:cNvPr id="21" name="Lane 1 step 1"/>
          <p:cNvSpPr/>
          <p:nvPr/>
        </p:nvSpPr>
        <p:spPr>
          <a:xfrm>
            <a:off x="685800" y="29260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22960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Live density, speed and incident data</a:t>
            </a:r>
            <a:endParaRPr lang="en-US" sz="1400" dirty="0"/>
          </a:p>
        </p:txBody>
      </p:sp>
      <p:pic>
        <p:nvPicPr>
          <p:cNvPr id="23" name="Image 5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992" y="3630168"/>
            <a:ext cx="201168" cy="201168"/>
          </a:xfrm>
          <a:prstGeom prst="rect">
            <a:avLst/>
          </a:prstGeom>
        </p:spPr>
      </p:pic>
      <p:sp>
        <p:nvSpPr>
          <p:cNvPr id="24" name="Lane 1 step 2"/>
          <p:cNvSpPr/>
          <p:nvPr/>
        </p:nvSpPr>
        <p:spPr>
          <a:xfrm>
            <a:off x="685800" y="38404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822960" y="3840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Congestion heatmap generation and optimization</a:t>
            </a:r>
            <a:endParaRPr lang="en-US" sz="1400" dirty="0"/>
          </a:p>
        </p:txBody>
      </p:sp>
      <p:pic>
        <p:nvPicPr>
          <p:cNvPr id="26" name="Image 6" descr="arrow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992" y="4544568"/>
            <a:ext cx="201168" cy="201168"/>
          </a:xfrm>
          <a:prstGeom prst="rect">
            <a:avLst/>
          </a:prstGeom>
        </p:spPr>
      </p:pic>
      <p:sp>
        <p:nvSpPr>
          <p:cNvPr id="27" name="Lane 1 step 3"/>
          <p:cNvSpPr/>
          <p:nvPr/>
        </p:nvSpPr>
        <p:spPr>
          <a:xfrm>
            <a:off x="685800" y="47548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822960" y="4754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Output: dashboard analytics</a:t>
            </a:r>
            <a:endParaRPr lang="en-US" sz="1400" dirty="0"/>
          </a:p>
        </p:txBody>
      </p:sp>
      <p:sp>
        <p:nvSpPr>
          <p:cNvPr id="29" name="Lane 2"/>
          <p:cNvSpPr/>
          <p:nvPr/>
        </p:nvSpPr>
        <p:spPr>
          <a:xfrm>
            <a:off x="4311396" y="214884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30" name="Lane header 2"/>
          <p:cNvSpPr/>
          <p:nvPr/>
        </p:nvSpPr>
        <p:spPr>
          <a:xfrm>
            <a:off x="4448556" y="228600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/>
        </p:spPr>
      </p:sp>
      <p:sp>
        <p:nvSpPr>
          <p:cNvPr id="31" name="Text 22"/>
          <p:cNvSpPr txBox="1"/>
          <p:nvPr/>
        </p:nvSpPr>
        <p:spPr>
          <a:xfrm>
            <a:off x="4448556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Law enforcement &amp; security</a:t>
            </a:r>
            <a:endParaRPr lang="en-US" sz="1600" dirty="0"/>
          </a:p>
        </p:txBody>
      </p:sp>
      <p:sp>
        <p:nvSpPr>
          <p:cNvPr id="32" name="Lane 2 step 1"/>
          <p:cNvSpPr/>
          <p:nvPr/>
        </p:nvSpPr>
        <p:spPr>
          <a:xfrm>
            <a:off x="4448556" y="29260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3" name="Text 24"/>
          <p:cNvSpPr txBox="1"/>
          <p:nvPr/>
        </p:nvSpPr>
        <p:spPr>
          <a:xfrm>
            <a:off x="4585716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Watchlist cross-reference (e.g., stolen vehicle plate)</a:t>
            </a:r>
            <a:endParaRPr lang="en-US" sz="1400" dirty="0"/>
          </a:p>
        </p:txBody>
      </p:sp>
      <p:pic>
        <p:nvPicPr>
          <p:cNvPr id="34" name="Image 7" descr="arrow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4748" y="3630168"/>
            <a:ext cx="201168" cy="201168"/>
          </a:xfrm>
          <a:prstGeom prst="rect">
            <a:avLst/>
          </a:prstGeom>
        </p:spPr>
      </p:pic>
      <p:sp>
        <p:nvSpPr>
          <p:cNvPr id="35" name="Lane 2 step 2"/>
          <p:cNvSpPr/>
          <p:nvPr/>
        </p:nvSpPr>
        <p:spPr>
          <a:xfrm>
            <a:off x="4448556" y="38404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4585716" y="3840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Alert trigger generation</a:t>
            </a:r>
            <a:endParaRPr lang="en-US" sz="1400" dirty="0"/>
          </a:p>
        </p:txBody>
      </p:sp>
      <p:pic>
        <p:nvPicPr>
          <p:cNvPr id="37" name="Image 8" descr="arrow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4748" y="4544568"/>
            <a:ext cx="201168" cy="201168"/>
          </a:xfrm>
          <a:prstGeom prst="rect">
            <a:avLst/>
          </a:prstGeom>
        </p:spPr>
      </p:pic>
      <p:sp>
        <p:nvSpPr>
          <p:cNvPr id="38" name="Lane 2 step 3"/>
          <p:cNvSpPr/>
          <p:nvPr/>
        </p:nvSpPr>
        <p:spPr>
          <a:xfrm>
            <a:off x="4448556" y="47548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4585716" y="4754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Output: real-time alerts to the control room</a:t>
            </a:r>
            <a:endParaRPr lang="en-US" sz="1400" dirty="0"/>
          </a:p>
        </p:txBody>
      </p:sp>
      <p:sp>
        <p:nvSpPr>
          <p:cNvPr id="40" name="Lane 3"/>
          <p:cNvSpPr/>
          <p:nvPr/>
        </p:nvSpPr>
        <p:spPr>
          <a:xfrm>
            <a:off x="8074152" y="2148840"/>
            <a:ext cx="3566160" cy="36118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1" name="Lane header 3"/>
          <p:cNvSpPr/>
          <p:nvPr/>
        </p:nvSpPr>
        <p:spPr>
          <a:xfrm>
            <a:off x="8211312" y="2286000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42" name="Text 31"/>
          <p:cNvSpPr txBox="1"/>
          <p:nvPr/>
        </p:nvSpPr>
        <p:spPr>
          <a:xfrm>
            <a:off x="8211312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Forensic investigation</a:t>
            </a:r>
            <a:endParaRPr lang="en-US" sz="1600" dirty="0"/>
          </a:p>
        </p:txBody>
      </p:sp>
      <p:sp>
        <p:nvSpPr>
          <p:cNvPr id="43" name="Lane 3 step 1"/>
          <p:cNvSpPr/>
          <p:nvPr/>
        </p:nvSpPr>
        <p:spPr>
          <a:xfrm>
            <a:off x="8211312" y="29260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4" name="Text 33"/>
          <p:cNvSpPr txBox="1"/>
          <p:nvPr/>
        </p:nvSpPr>
        <p:spPr>
          <a:xfrm>
            <a:off x="8348472" y="2926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Historical trajectory reconstruction</a:t>
            </a:r>
            <a:endParaRPr lang="en-US" sz="1400" dirty="0"/>
          </a:p>
        </p:txBody>
      </p:sp>
      <p:pic>
        <p:nvPicPr>
          <p:cNvPr id="45" name="Image 9" descr="arrow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7504" y="3630168"/>
            <a:ext cx="201168" cy="201168"/>
          </a:xfrm>
          <a:prstGeom prst="rect">
            <a:avLst/>
          </a:prstGeom>
        </p:spPr>
      </p:pic>
      <p:sp>
        <p:nvSpPr>
          <p:cNvPr id="46" name="Lane 3 step 2"/>
          <p:cNvSpPr/>
          <p:nvPr/>
        </p:nvSpPr>
        <p:spPr>
          <a:xfrm>
            <a:off x="8211312" y="38404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8348472" y="3840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Route query tool</a:t>
            </a:r>
            <a:endParaRPr lang="en-US" sz="1400" dirty="0"/>
          </a:p>
        </p:txBody>
      </p:sp>
      <p:pic>
        <p:nvPicPr>
          <p:cNvPr id="48" name="Image 10" descr="arr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7504" y="4544568"/>
            <a:ext cx="201168" cy="201168"/>
          </a:xfrm>
          <a:prstGeom prst="rect">
            <a:avLst/>
          </a:prstGeom>
        </p:spPr>
      </p:pic>
      <p:sp>
        <p:nvSpPr>
          <p:cNvPr id="49" name="Lane 3 step 3"/>
          <p:cNvSpPr/>
          <p:nvPr/>
        </p:nvSpPr>
        <p:spPr>
          <a:xfrm>
            <a:off x="8211312" y="4754880"/>
            <a:ext cx="329184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0" name="Text 37"/>
          <p:cNvSpPr txBox="1"/>
          <p:nvPr/>
        </p:nvSpPr>
        <p:spPr>
          <a:xfrm>
            <a:off x="8348472" y="4754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Output: investigative report</a:t>
            </a:r>
            <a:endParaRPr lang="en-US" sz="1400" dirty="0"/>
          </a:p>
        </p:txBody>
      </p:sp>
      <p:sp>
        <p:nvSpPr>
          <p:cNvPr id="51" name="Icon badge FaUserShield"/>
          <p:cNvSpPr/>
          <p:nvPr/>
        </p:nvSpPr>
        <p:spPr>
          <a:xfrm>
            <a:off x="548640" y="585216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52" name="Image 11" descr="UserShield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5625" y="5959145"/>
            <a:ext cx="197510" cy="197510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1097280" y="58338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Authorized personnel work from the command and control center; instant identification of blacklisted vehicles enables proactive interception.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Feasibility, Scalability &amp; Viability</a:t>
            </a:r>
            <a:endParaRPr lang="en-US" sz="3200" dirty="0"/>
          </a:p>
        </p:txBody>
      </p:sp>
      <p:sp>
        <p:nvSpPr>
          <p:cNvPr id="3" name="Feasibility card 1"/>
          <p:cNvSpPr/>
          <p:nvPr/>
        </p:nvSpPr>
        <p:spPr>
          <a:xfrm>
            <a:off x="548640" y="1371600"/>
            <a:ext cx="32004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Icon badge FaLink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Lin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Cost-effective integration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3347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Reuses existing CCTV networks, cutting new hardware cost and implementation time.</a:t>
            </a:r>
            <a:endParaRPr lang="en-US" sz="1400" dirty="0"/>
          </a:p>
        </p:txBody>
      </p:sp>
      <p:sp>
        <p:nvSpPr>
          <p:cNvPr id="8" name="Feasibility card 2"/>
          <p:cNvSpPr/>
          <p:nvPr/>
        </p:nvSpPr>
        <p:spPr>
          <a:xfrm>
            <a:off x="3886200" y="1371600"/>
            <a:ext cx="32004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9" name="Icon badge FaBrain"/>
          <p:cNvSpPr/>
          <p:nvPr/>
        </p:nvSpPr>
        <p:spPr>
          <a:xfrm>
            <a:off x="4114800" y="1600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1" descr="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446" y="174284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Proven AI technology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114800" y="263347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Battle-tested YOLOv8 models give high-accuracy detection from day one.</a:t>
            </a:r>
            <a:endParaRPr lang="en-US" sz="1400" dirty="0"/>
          </a:p>
        </p:txBody>
      </p:sp>
      <p:sp>
        <p:nvSpPr>
          <p:cNvPr id="13" name="Feasibility card 3"/>
          <p:cNvSpPr/>
          <p:nvPr/>
        </p:nvSpPr>
        <p:spPr>
          <a:xfrm>
            <a:off x="548640" y="3794760"/>
            <a:ext cx="32004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Icon badge FaExpandArrowsAlt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5" name="Image 2" descr="ExpandArrows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166006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4709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Scalable edge architecture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505663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Video is processed locally and only metadata goes to the cloud, reducing bandwidth and server cost.</a:t>
            </a:r>
            <a:endParaRPr lang="en-US" sz="1400" dirty="0"/>
          </a:p>
        </p:txBody>
      </p:sp>
      <p:sp>
        <p:nvSpPr>
          <p:cNvPr id="18" name="Feasibility card 4"/>
          <p:cNvSpPr/>
          <p:nvPr/>
        </p:nvSpPr>
        <p:spPr>
          <a:xfrm>
            <a:off x="3886200" y="3794760"/>
            <a:ext cx="32004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9" name="Icon badge FaCodeBranch"/>
          <p:cNvSpPr/>
          <p:nvPr/>
        </p:nvSpPr>
        <p:spPr>
          <a:xfrm>
            <a:off x="4114800" y="4023360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0" name="Image 3" descr="CodeBranc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7446" y="416600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114800" y="4709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 and future-ready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114800" y="505663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An open-source stack eases updates, integration and city-wide expansion.</a:t>
            </a:r>
            <a:endParaRPr lang="en-US" sz="1400" dirty="0"/>
          </a:p>
        </p:txBody>
      </p:sp>
      <p:sp>
        <p:nvSpPr>
          <p:cNvPr id="23" name="Deployment pipeline card"/>
          <p:cNvSpPr/>
          <p:nvPr/>
        </p:nvSpPr>
        <p:spPr>
          <a:xfrm>
            <a:off x="7406640" y="1371600"/>
            <a:ext cx="4233672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589520" y="1481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Deployment pipeline</a:t>
            </a:r>
            <a:endParaRPr lang="en-US" sz="1400" dirty="0"/>
          </a:p>
        </p:txBody>
      </p:sp>
      <p:pic>
        <p:nvPicPr>
          <p:cNvPr id="25" name="Image 4" descr="Five-stage pipeline: camera sources, AI OCR, central database, smart intelligence, live dashboard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43800" y="1828800"/>
            <a:ext cx="3959352" cy="2194560"/>
          </a:xfrm>
          <a:prstGeom prst="rect">
            <a:avLst/>
          </a:prstGeom>
        </p:spPr>
      </p:pic>
      <p:sp>
        <p:nvSpPr>
          <p:cNvPr id="26" name="Precedent card"/>
          <p:cNvSpPr/>
          <p:nvPr/>
        </p:nvSpPr>
        <p:spPr>
          <a:xfrm>
            <a:off x="7406640" y="4343400"/>
            <a:ext cx="4233672" cy="1783080"/>
          </a:xfrm>
          <a:prstGeom prst="roundRect">
            <a:avLst>
              <a:gd name="adj" fmla="val 6154"/>
            </a:avLst>
          </a:prstGeom>
          <a:solidFill>
            <a:schemeClr val="tx1"/>
          </a:solidFill>
          <a:ln/>
        </p:spPr>
      </p:sp>
      <p:sp>
        <p:nvSpPr>
          <p:cNvPr id="27" name="Icon badge FaCity"/>
          <p:cNvSpPr/>
          <p:nvPr/>
        </p:nvSpPr>
        <p:spPr>
          <a:xfrm>
            <a:off x="7635240" y="452628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8" name="Image 5" descr="City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5999" y="4657039"/>
            <a:ext cx="241402" cy="24140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321040" y="4526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Real-world precedent</a:t>
            </a:r>
            <a:endParaRPr lang="en-US" sz="1600" dirty="0"/>
          </a:p>
        </p:txBody>
      </p:sp>
      <p:sp>
        <p:nvSpPr>
          <p:cNvPr id="30" name="Text 22"/>
          <p:cNvSpPr txBox="1"/>
          <p:nvPr/>
        </p:nvSpPr>
        <p:spPr>
          <a:xfrm>
            <a:off x="7635240" y="51663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Backed by real-world Smart City ITMS frameworks such as those in Surat and Pune.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Challenges, Limitations &amp; Mitigation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98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CHALLENGES &amp; LIMITATIONS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537960" y="12984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4"/>
                </a:solidFill>
              </a:rPr>
              <a:t>MITIGATION STRATEGIES</a:t>
            </a:r>
            <a:endParaRPr lang="en-US" sz="1400" dirty="0"/>
          </a:p>
        </p:txBody>
      </p:sp>
      <p:sp>
        <p:nvSpPr>
          <p:cNvPr id="5" name="Challenge 1"/>
          <p:cNvSpPr/>
          <p:nvPr/>
        </p:nvSpPr>
        <p:spPr>
          <a:xfrm>
            <a:off x="548640" y="1645920"/>
            <a:ext cx="539496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6" name="Icon badge FaCloudRain"/>
          <p:cNvSpPr/>
          <p:nvPr/>
        </p:nvSpPr>
        <p:spPr>
          <a:xfrm>
            <a:off x="713232" y="186537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7" name="Image 0" descr="CloudRai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2008022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7373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Adverse weather &amp; lighting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0299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Rain, fog, night glare and dirty lenses can reduce detection accuracy.</a:t>
            </a:r>
            <a:endParaRPr lang="en-US" sz="1400" dirty="0"/>
          </a:p>
        </p:txBody>
      </p:sp>
      <p:pic>
        <p:nvPicPr>
          <p:cNvPr id="10" name="Image 1" descr="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02536"/>
            <a:ext cx="274320" cy="274320"/>
          </a:xfrm>
          <a:prstGeom prst="rect">
            <a:avLst/>
          </a:prstGeom>
        </p:spPr>
      </p:pic>
      <p:sp>
        <p:nvSpPr>
          <p:cNvPr id="11" name="Mitigation 1"/>
          <p:cNvSpPr/>
          <p:nvPr/>
        </p:nvSpPr>
        <p:spPr>
          <a:xfrm>
            <a:off x="6492240" y="1645920"/>
            <a:ext cx="5148072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2" name="Icon badge FaBrain"/>
          <p:cNvSpPr/>
          <p:nvPr/>
        </p:nvSpPr>
        <p:spPr>
          <a:xfrm>
            <a:off x="6656832" y="1865376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13" name="Image 2" descr="Brai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78" y="200802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664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Weather-adaptive AI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202996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Train on diverse conditions with video enhancement; cross-check signals to cut false alarms.</a:t>
            </a:r>
            <a:endParaRPr lang="en-US" sz="1400" dirty="0"/>
          </a:p>
        </p:txBody>
      </p:sp>
      <p:sp>
        <p:nvSpPr>
          <p:cNvPr id="16" name="Challenge 2"/>
          <p:cNvSpPr/>
          <p:nvPr/>
        </p:nvSpPr>
        <p:spPr>
          <a:xfrm>
            <a:off x="548640" y="2743200"/>
            <a:ext cx="539496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17" name="Icon badge FaTools"/>
          <p:cNvSpPr/>
          <p:nvPr/>
        </p:nvSpPr>
        <p:spPr>
          <a:xfrm>
            <a:off x="713232" y="296265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3" descr="Tool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78" y="3105302"/>
            <a:ext cx="263347" cy="26334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283464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Hardware &amp; network reliability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463040" y="31272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Edge device failures, power issues and network drops can disrupt operations.</a:t>
            </a:r>
            <a:endParaRPr lang="en-US" sz="1400" dirty="0"/>
          </a:p>
        </p:txBody>
      </p:sp>
      <p:pic>
        <p:nvPicPr>
          <p:cNvPr id="21" name="Image 4" descr="arr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099816"/>
            <a:ext cx="274320" cy="274320"/>
          </a:xfrm>
          <a:prstGeom prst="rect">
            <a:avLst/>
          </a:prstGeom>
        </p:spPr>
      </p:pic>
      <p:sp>
        <p:nvSpPr>
          <p:cNvPr id="22" name="Mitigation 2"/>
          <p:cNvSpPr/>
          <p:nvPr/>
        </p:nvSpPr>
        <p:spPr>
          <a:xfrm>
            <a:off x="6492240" y="2743200"/>
            <a:ext cx="5148072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3" name="Icon badge FaShieldAlt"/>
          <p:cNvSpPr/>
          <p:nvPr/>
        </p:nvSpPr>
        <p:spPr>
          <a:xfrm>
            <a:off x="6656832" y="2962656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24" name="Image 5" descr="ShieldAl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9478" y="3105302"/>
            <a:ext cx="263347" cy="26334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40664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Robust safeguards</a:t>
            </a:r>
            <a:endParaRPr lang="en-US" sz="1600" dirty="0"/>
          </a:p>
        </p:txBody>
      </p:sp>
      <p:sp>
        <p:nvSpPr>
          <p:cNvPr id="26" name="Text 18"/>
          <p:cNvSpPr txBox="1"/>
          <p:nvPr/>
        </p:nvSpPr>
        <p:spPr>
          <a:xfrm>
            <a:off x="7406640" y="3127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Health monitoring, auto-recovery and redundant network paths.</a:t>
            </a:r>
            <a:endParaRPr lang="en-US" sz="1400" dirty="0"/>
          </a:p>
        </p:txBody>
      </p:sp>
      <p:sp>
        <p:nvSpPr>
          <p:cNvPr id="27" name="Challenge 3"/>
          <p:cNvSpPr/>
          <p:nvPr/>
        </p:nvSpPr>
        <p:spPr>
          <a:xfrm>
            <a:off x="548640" y="3840480"/>
            <a:ext cx="539496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28" name="Icon badge FaWifi"/>
          <p:cNvSpPr/>
          <p:nvPr/>
        </p:nvSpPr>
        <p:spPr>
          <a:xfrm>
            <a:off x="713232" y="405993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9" name="Image 6" descr="Wifi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878" y="4202582"/>
            <a:ext cx="263347" cy="26334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463040" y="393192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 &amp; connectivity gaps</a:t>
            </a:r>
            <a:endParaRPr lang="en-US" sz="1600" dirty="0"/>
          </a:p>
        </p:txBody>
      </p:sp>
      <p:sp>
        <p:nvSpPr>
          <p:cNvPr id="31" name="Text 22"/>
          <p:cNvSpPr txBox="1"/>
          <p:nvPr/>
        </p:nvSpPr>
        <p:spPr>
          <a:xfrm>
            <a:off x="1463040" y="422452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Intermittent networks and remote locations may delay data sync and alerts.</a:t>
            </a:r>
            <a:endParaRPr lang="en-US" sz="1400" dirty="0"/>
          </a:p>
        </p:txBody>
      </p:sp>
      <p:pic>
        <p:nvPicPr>
          <p:cNvPr id="32" name="Image 7" descr="arrow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4197096"/>
            <a:ext cx="274320" cy="274320"/>
          </a:xfrm>
          <a:prstGeom prst="rect">
            <a:avLst/>
          </a:prstGeom>
        </p:spPr>
      </p:pic>
      <p:sp>
        <p:nvSpPr>
          <p:cNvPr id="33" name="Mitigation 3"/>
          <p:cNvSpPr/>
          <p:nvPr/>
        </p:nvSpPr>
        <p:spPr>
          <a:xfrm>
            <a:off x="6492240" y="3840480"/>
            <a:ext cx="5148072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34" name="Icon badge FaServer"/>
          <p:cNvSpPr/>
          <p:nvPr/>
        </p:nvSpPr>
        <p:spPr>
          <a:xfrm>
            <a:off x="6656832" y="4059936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35" name="Image 8" descr="Server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9478" y="4202582"/>
            <a:ext cx="263347" cy="263347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40664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Edge caching &amp; failover</a:t>
            </a:r>
            <a:endParaRPr lang="en-US" sz="1600" dirty="0"/>
          </a:p>
        </p:txBody>
      </p:sp>
      <p:sp>
        <p:nvSpPr>
          <p:cNvPr id="37" name="Text 26"/>
          <p:cNvSpPr txBox="1"/>
          <p:nvPr/>
        </p:nvSpPr>
        <p:spPr>
          <a:xfrm>
            <a:off x="7406640" y="42245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Local storage on edge devices with auto-sync once the network returns.</a:t>
            </a:r>
            <a:endParaRPr lang="en-US" sz="1400" dirty="0"/>
          </a:p>
        </p:txBody>
      </p:sp>
      <p:sp>
        <p:nvSpPr>
          <p:cNvPr id="38" name="Challenge 4"/>
          <p:cNvSpPr/>
          <p:nvPr/>
        </p:nvSpPr>
        <p:spPr>
          <a:xfrm>
            <a:off x="548640" y="4937760"/>
            <a:ext cx="5394960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39" name="Icon badge FaDatabase"/>
          <p:cNvSpPr/>
          <p:nvPr/>
        </p:nvSpPr>
        <p:spPr>
          <a:xfrm>
            <a:off x="713232" y="5157216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0" name="Image 9" descr="Database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5878" y="5299862"/>
            <a:ext cx="263347" cy="263347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1463040" y="50292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Maintenance overhead</a:t>
            </a:r>
            <a:endParaRPr lang="en-US" sz="1600" dirty="0"/>
          </a:p>
        </p:txBody>
      </p:sp>
      <p:sp>
        <p:nvSpPr>
          <p:cNvPr id="42" name="Text 30"/>
          <p:cNvSpPr txBox="1"/>
          <p:nvPr/>
        </p:nvSpPr>
        <p:spPr>
          <a:xfrm>
            <a:off x="1463040" y="53218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Regular device upkeep, monitoring and software updates are required.</a:t>
            </a:r>
            <a:endParaRPr lang="en-US" sz="1400" dirty="0"/>
          </a:p>
        </p:txBody>
      </p:sp>
      <p:pic>
        <p:nvPicPr>
          <p:cNvPr id="43" name="Image 10" descr="arrow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760" y="5294376"/>
            <a:ext cx="274320" cy="274320"/>
          </a:xfrm>
          <a:prstGeom prst="rect">
            <a:avLst/>
          </a:prstGeom>
        </p:spPr>
      </p:pic>
      <p:sp>
        <p:nvSpPr>
          <p:cNvPr id="44" name="Mitigation 4"/>
          <p:cNvSpPr/>
          <p:nvPr/>
        </p:nvSpPr>
        <p:spPr>
          <a:xfrm>
            <a:off x="6492240" y="4937760"/>
            <a:ext cx="5148072" cy="987552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</p:spPr>
      </p:sp>
      <p:sp>
        <p:nvSpPr>
          <p:cNvPr id="45" name="Icon badge FaCodeBranch"/>
          <p:cNvSpPr/>
          <p:nvPr/>
        </p:nvSpPr>
        <p:spPr>
          <a:xfrm>
            <a:off x="6656832" y="5157216"/>
            <a:ext cx="548640" cy="54864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46" name="Image 11" descr="CodeBranch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9478" y="5299862"/>
            <a:ext cx="263347" cy="263347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406640" y="5029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Open-source, monitored stack</a:t>
            </a:r>
            <a:endParaRPr lang="en-US" sz="1600" dirty="0"/>
          </a:p>
        </p:txBody>
      </p:sp>
      <p:sp>
        <p:nvSpPr>
          <p:cNvPr id="48" name="Text 34"/>
          <p:cNvSpPr txBox="1"/>
          <p:nvPr/>
        </p:nvSpPr>
        <p:spPr>
          <a:xfrm>
            <a:off x="7406640" y="5321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Eases updates and integration, backed by health monitoring.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Outcomes &amp; Practical Applications</a:t>
            </a:r>
            <a:endParaRPr lang="en-US" sz="3200" dirty="0"/>
          </a:p>
        </p:txBody>
      </p:sp>
      <p:sp>
        <p:nvSpPr>
          <p:cNvPr id="3" name="Application 1"/>
          <p:cNvSpPr/>
          <p:nvPr/>
        </p:nvSpPr>
        <p:spPr>
          <a:xfrm>
            <a:off x="548640" y="1371600"/>
            <a:ext cx="262432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Icon badge FaTrafficLight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pic>
        <p:nvPicPr>
          <p:cNvPr id="5" name="Image 0" descr="TrafficLigh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7090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33172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Traffic management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Congestion heatmaps and optimization for smoother flow.</a:t>
            </a:r>
            <a:endParaRPr lang="en-US" sz="1400" dirty="0"/>
          </a:p>
        </p:txBody>
      </p:sp>
      <p:sp>
        <p:nvSpPr>
          <p:cNvPr id="8" name="Application 2"/>
          <p:cNvSpPr/>
          <p:nvPr/>
        </p:nvSpPr>
        <p:spPr>
          <a:xfrm>
            <a:off x="3371088" y="1371600"/>
            <a:ext cx="262432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Icon badge FaBalanceScale"/>
          <p:cNvSpPr/>
          <p:nvPr/>
        </p:nvSpPr>
        <p:spPr>
          <a:xfrm>
            <a:off x="3599688" y="1554480"/>
            <a:ext cx="594360" cy="59436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0" name="Image 1" descr="BalanceSca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222" y="17090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9688" y="233172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Law enforcement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99688" y="269748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Watchlist alerts and proactive interception of flagged vehicles.</a:t>
            </a:r>
            <a:endParaRPr lang="en-US" sz="1400" dirty="0"/>
          </a:p>
        </p:txBody>
      </p:sp>
      <p:sp>
        <p:nvSpPr>
          <p:cNvPr id="13" name="Application 3"/>
          <p:cNvSpPr/>
          <p:nvPr/>
        </p:nvSpPr>
        <p:spPr>
          <a:xfrm>
            <a:off x="6193536" y="1371600"/>
            <a:ext cx="262432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Icon badge FaSearchLocation"/>
          <p:cNvSpPr/>
          <p:nvPr/>
        </p:nvSpPr>
        <p:spPr>
          <a:xfrm>
            <a:off x="6422136" y="155448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2" descr="SearchLocati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670" y="17090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22136" y="233172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Forensic investigation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22136" y="269748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Historical route reconstruction and investigative reports.</a:t>
            </a:r>
            <a:endParaRPr lang="en-US" sz="1400" dirty="0"/>
          </a:p>
        </p:txBody>
      </p:sp>
      <p:sp>
        <p:nvSpPr>
          <p:cNvPr id="18" name="Application 4"/>
          <p:cNvSpPr/>
          <p:nvPr/>
        </p:nvSpPr>
        <p:spPr>
          <a:xfrm>
            <a:off x="9015984" y="1371600"/>
            <a:ext cx="2624328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Icon badge FaCity"/>
          <p:cNvSpPr/>
          <p:nvPr/>
        </p:nvSpPr>
        <p:spPr>
          <a:xfrm>
            <a:off x="9244584" y="155448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0" name="Image 3" descr="Cit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118" y="17090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44584" y="2331720"/>
            <a:ext cx="216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Urban planning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244584" y="2697480"/>
            <a:ext cx="216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Flow data that helps design better road infrastructure.</a:t>
            </a:r>
            <a:endParaRPr lang="en-US" sz="1400" dirty="0"/>
          </a:p>
        </p:txBody>
      </p:sp>
      <p:sp>
        <p:nvSpPr>
          <p:cNvPr id="23" name="Outcomes band"/>
          <p:cNvSpPr/>
          <p:nvPr/>
        </p:nvSpPr>
        <p:spPr>
          <a:xfrm>
            <a:off x="548640" y="4114800"/>
            <a:ext cx="11091672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2296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EXPECTED OUTCOMES</a:t>
            </a:r>
            <a:endParaRPr lang="en-US" sz="1400" dirty="0"/>
          </a:p>
        </p:txBody>
      </p:sp>
      <p:pic>
        <p:nvPicPr>
          <p:cNvPr id="25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82803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80160" y="4709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Eliminates manual video inspection across multi-camera feeds</a:t>
            </a:r>
            <a:endParaRPr lang="en-US" sz="1400" dirty="0"/>
          </a:p>
        </p:txBody>
      </p:sp>
      <p:pic>
        <p:nvPicPr>
          <p:cNvPr id="27" name="Image 5" descr="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828032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675120" y="47091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Detects plates and flags blacklisted vehicles automatically</a:t>
            </a:r>
            <a:endParaRPr lang="en-US" sz="1400" dirty="0"/>
          </a:p>
        </p:txBody>
      </p:sp>
      <p:pic>
        <p:nvPicPr>
          <p:cNvPr id="29" name="Image 6" descr="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513832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280160" y="5394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Gives law enforcement instant status alerts</a:t>
            </a:r>
            <a:endParaRPr lang="en-US" sz="1400" dirty="0"/>
          </a:p>
        </p:txBody>
      </p:sp>
      <p:pic>
        <p:nvPicPr>
          <p:cNvPr id="31" name="Image 7" descr="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5513832"/>
            <a:ext cx="310896" cy="31089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675120" y="53949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Delivers seamless cross-camera tracking beyond CCTV blind spots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NETRA-GATI shows how existing CCTV infrastructure can become an intelligent, city-wide system. Edge AI reads plates, Re-ID stitches journeys across blind spots, and real-time analytics support enforcement, investigation and traffic planning.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2120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accent1"/>
                </a:solidFill>
              </a:rPr>
              <a:t>Existing cameras. Edge intelligence. Connected city.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7" name="Future item 1"/>
          <p:cNvSpPr/>
          <p:nvPr/>
        </p:nvSpPr>
        <p:spPr>
          <a:xfrm>
            <a:off x="5852160" y="1737360"/>
            <a:ext cx="5788152" cy="987552"/>
          </a:xfrm>
          <a:prstGeom prst="roundRect">
            <a:avLst>
              <a:gd name="adj" fmla="val 11111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8" name="Icon badge FaBrain"/>
          <p:cNvSpPr/>
          <p:nvPr/>
        </p:nvSpPr>
        <p:spPr>
          <a:xfrm>
            <a:off x="6035040" y="1956816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9" name="Image 0" descr="Brai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686" y="2099462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12280" y="18470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Stronger forecasting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21579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Refine LSTM congestion prediction with weather and pedestrian data.</a:t>
            </a:r>
            <a:endParaRPr lang="en-US" sz="1400" dirty="0"/>
          </a:p>
        </p:txBody>
      </p:sp>
      <p:sp>
        <p:nvSpPr>
          <p:cNvPr id="12" name="Future item 2"/>
          <p:cNvSpPr/>
          <p:nvPr/>
        </p:nvSpPr>
        <p:spPr>
          <a:xfrm>
            <a:off x="5852160" y="2834640"/>
            <a:ext cx="5788152" cy="987552"/>
          </a:xfrm>
          <a:prstGeom prst="roundRect">
            <a:avLst>
              <a:gd name="adj" fmla="val 11111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3" name="Icon badge FaPlayCircle"/>
          <p:cNvSpPr/>
          <p:nvPr/>
        </p:nvSpPr>
        <p:spPr>
          <a:xfrm>
            <a:off x="6035040" y="3054096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4" name="Image 1" descr="PlayCirc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7686" y="3196742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812280" y="29443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Voice &amp; language queries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6812280" y="32552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Add Speech-to-Text and Transformer-based NLP for operators.</a:t>
            </a:r>
            <a:endParaRPr lang="en-US" sz="1400" dirty="0"/>
          </a:p>
        </p:txBody>
      </p:sp>
      <p:sp>
        <p:nvSpPr>
          <p:cNvPr id="17" name="Future item 3"/>
          <p:cNvSpPr/>
          <p:nvPr/>
        </p:nvSpPr>
        <p:spPr>
          <a:xfrm>
            <a:off x="5852160" y="3931920"/>
            <a:ext cx="5788152" cy="987552"/>
          </a:xfrm>
          <a:prstGeom prst="roundRect">
            <a:avLst>
              <a:gd name="adj" fmla="val 11111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8" name="Icon badge FaCloud"/>
          <p:cNvSpPr/>
          <p:nvPr/>
        </p:nvSpPr>
        <p:spPr>
          <a:xfrm>
            <a:off x="6035040" y="4151376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9" name="Image 2" descr="Clou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686" y="4294022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12280" y="4041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City-wide cloud scale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812280" y="43525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Scale to larger camera networks on AWS with GraphQL APIs.</a:t>
            </a:r>
            <a:endParaRPr lang="en-US" sz="1400" dirty="0"/>
          </a:p>
        </p:txBody>
      </p:sp>
      <p:sp>
        <p:nvSpPr>
          <p:cNvPr id="22" name="Future item 4"/>
          <p:cNvSpPr/>
          <p:nvPr/>
        </p:nvSpPr>
        <p:spPr>
          <a:xfrm>
            <a:off x="5852160" y="5029200"/>
            <a:ext cx="5788152" cy="987552"/>
          </a:xfrm>
          <a:prstGeom prst="roundRect">
            <a:avLst>
              <a:gd name="adj" fmla="val 11111"/>
            </a:avLst>
          </a:prstGeom>
          <a:solidFill>
            <a:schemeClr val="bg1">
              <a:alpha val="10000"/>
            </a:schemeClr>
          </a:solidFill>
          <a:ln w="9525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23" name="Icon badge FaCity"/>
          <p:cNvSpPr/>
          <p:nvPr/>
        </p:nvSpPr>
        <p:spPr>
          <a:xfrm>
            <a:off x="6035040" y="5248656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24" name="Image 3" descr="City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7686" y="5391302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812280" y="51389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ITMS integration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812280" y="5449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Align with Smart City ITMS deployments such as Surat and Pune.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&amp; Demonstration Resources</a:t>
            </a:r>
            <a:endParaRPr lang="en-US" sz="3200" dirty="0"/>
          </a:p>
        </p:txBody>
      </p:sp>
      <p:sp>
        <p:nvSpPr>
          <p:cNvPr id="3" name="References card"/>
          <p:cNvSpPr/>
          <p:nvPr/>
        </p:nvSpPr>
        <p:spPr>
          <a:xfrm>
            <a:off x="548640" y="1371600"/>
            <a:ext cx="685800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36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RESEARCH REFERENCES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Edge AI &amp; vision: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YOLOv8 (real-time detection) and DeepSORT (vehicle tracking).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Hardware: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NVIDIA Jetson for low-latency, local AI processing.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Data pipeline: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Apache Kafka for high-speed metadata streaming.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Predictive analytics: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LSTMs (congestion forecasting) and OCR (automatic number plate recognition).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Validation &amp; UI: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Mapbox / Leaflet live heatmaps, backed by Smart City ITMS frameworks (e.g., Surat, Pune).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3"/>
                </a:solidFill>
              </a:rPr>
              <a:t>SOURCES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4632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chemeClr val="tx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tektronixllc.ae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chemeClr val="tx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tektronixllc.ae/anpr-lpr-camera-installation-uae-saudi-arabia-oman-qatar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u="sng" dirty="0">
                <a:solidFill>
                  <a:schemeClr val="tx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share.google/9ZiH2DJry2YQOpvjS</a:t>
            </a:r>
            <a:endParaRPr lang="en-US" sz="1400" dirty="0"/>
          </a:p>
        </p:txBody>
      </p:sp>
      <p:sp>
        <p:nvSpPr>
          <p:cNvPr id="8" name="Repository card"/>
          <p:cNvSpPr/>
          <p:nvPr/>
        </p:nvSpPr>
        <p:spPr>
          <a:xfrm>
            <a:off x="7680960" y="1371600"/>
            <a:ext cx="3959352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pic>
        <p:nvPicPr>
          <p:cNvPr id="9" name="Image 0" descr="QR code linking to the project repositor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1508760"/>
            <a:ext cx="1737360" cy="17373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80960" y="3383280"/>
            <a:ext cx="3959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Scan for repository link</a:t>
            </a:r>
            <a:endParaRPr lang="en-US" sz="1600" dirty="0"/>
          </a:p>
        </p:txBody>
      </p:sp>
      <p:sp>
        <p:nvSpPr>
          <p:cNvPr id="11" name="Demo card"/>
          <p:cNvSpPr/>
          <p:nvPr/>
        </p:nvSpPr>
        <p:spPr>
          <a:xfrm>
            <a:off x="7680960" y="4297680"/>
            <a:ext cx="3959352" cy="18288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</p:spPr>
      </p:sp>
      <p:sp>
        <p:nvSpPr>
          <p:cNvPr id="12" name="Icon badge FaPlayCircle"/>
          <p:cNvSpPr/>
          <p:nvPr/>
        </p:nvSpPr>
        <p:spPr>
          <a:xfrm>
            <a:off x="7909560" y="4480560"/>
            <a:ext cx="548640" cy="548640"/>
          </a:xfrm>
          <a:prstGeom prst="ellipse">
            <a:avLst/>
          </a:prstGeom>
          <a:solidFill>
            <a:srgbClr val="06B6D4"/>
          </a:solidFill>
          <a:ln/>
        </p:spPr>
      </p:sp>
      <p:pic>
        <p:nvPicPr>
          <p:cNvPr id="13" name="Image 1" descr="PlayCirc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2206" y="462320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641080" y="4480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Demonstration video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909560" y="5212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u="sng" dirty="0">
                <a:solidFill>
                  <a:schemeClr val="accent1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youtu.be/uYhBiXGCNos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RA-GATI">
  <a:themeElements>
    <a:clrScheme name="NETRA-GATI">
      <a:dk1>
        <a:srgbClr val="0B1730"/>
      </a:dk1>
      <a:lt1>
        <a:srgbClr val="FFFFFF"/>
      </a:lt1>
      <a:dk2>
        <a:srgbClr val="4A5A73"/>
      </a:dk2>
      <a:lt2>
        <a:srgbClr val="EAF2FA"/>
      </a:lt2>
      <a:accent1>
        <a:srgbClr val="06B6D4"/>
      </a:accent1>
      <a:accent2>
        <a:srgbClr val="F59E0B"/>
      </a:accent2>
      <a:accent3>
        <a:srgbClr val="2563EB"/>
      </a:accent3>
      <a:accent4>
        <a:srgbClr val="059669"/>
      </a:accent4>
      <a:accent5>
        <a:srgbClr val="DC2626"/>
      </a:accent5>
      <a:accent6>
        <a:srgbClr val="7C3AED"/>
      </a:accent6>
      <a:hlink>
        <a:srgbClr val="2563EB"/>
      </a:hlink>
      <a:folHlink>
        <a:srgbClr val="7C3AED"/>
      </a:folHlink>
    </a:clrScheme>
    <a:fontScheme name="NETRA-GAT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NETRA-GATI – Individual Academic Project Presentation</dc:title>
  <dc:subject>City-Wide AI Engine for Multi-Camera ANPR, Vehicle Trajectory Tracking and Urban Traffic Analytics</dc:subject>
  <dc:creator>PptxGenJS</dc:creator>
  <cp:lastModifiedBy>PptxGenJS</cp:lastModifiedBy>
  <cp:revision>1</cp:revision>
  <dcterms:created xsi:type="dcterms:W3CDTF">2026-10-14T08:11:30Z</dcterms:created>
  <dcterms:modified xsi:type="dcterms:W3CDTF">2026-10-14T08:11:30Z</dcterms:modified>
</cp:coreProperties>
</file>